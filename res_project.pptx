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7"/>
  </p:notesMasterIdLst>
  <p:sldIdLst>
    <p:sldId id="256" r:id="rId2"/>
    <p:sldId id="257" r:id="rId3"/>
    <p:sldId id="259" r:id="rId4"/>
    <p:sldId id="258" r:id="rId5"/>
    <p:sldId id="261" r:id="rId6"/>
    <p:sldId id="267" r:id="rId7"/>
    <p:sldId id="281" r:id="rId8"/>
    <p:sldId id="268" r:id="rId9"/>
    <p:sldId id="263" r:id="rId10"/>
    <p:sldId id="277" r:id="rId11"/>
    <p:sldId id="292" r:id="rId12"/>
    <p:sldId id="284" r:id="rId13"/>
    <p:sldId id="294" r:id="rId14"/>
    <p:sldId id="295" r:id="rId15"/>
    <p:sldId id="296" r:id="rId16"/>
    <p:sldId id="297" r:id="rId17"/>
    <p:sldId id="275" r:id="rId18"/>
    <p:sldId id="270" r:id="rId19"/>
    <p:sldId id="269" r:id="rId20"/>
    <p:sldId id="271" r:id="rId21"/>
    <p:sldId id="285" r:id="rId22"/>
    <p:sldId id="273" r:id="rId23"/>
    <p:sldId id="274" r:id="rId24"/>
    <p:sldId id="276" r:id="rId25"/>
    <p:sldId id="298" r:id="rId26"/>
    <p:sldId id="278" r:id="rId27"/>
    <p:sldId id="280" r:id="rId28"/>
    <p:sldId id="279" r:id="rId29"/>
    <p:sldId id="301" r:id="rId30"/>
    <p:sldId id="302" r:id="rId31"/>
    <p:sldId id="290" r:id="rId32"/>
    <p:sldId id="265" r:id="rId33"/>
    <p:sldId id="291" r:id="rId34"/>
    <p:sldId id="266" r:id="rId35"/>
    <p:sldId id="299" r:id="rId36"/>
  </p:sldIdLst>
  <p:sldSz cx="14630400" cy="8229600"/>
  <p:notesSz cx="14630400" cy="82296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830" y="5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6340475" cy="41275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8286750" y="0"/>
            <a:ext cx="6340475" cy="412750"/>
          </a:xfrm>
          <a:prstGeom prst="rect">
            <a:avLst/>
          </a:prstGeom>
        </p:spPr>
        <p:txBody>
          <a:bodyPr vert="horz" lIns="91440" tIns="45720" rIns="91440" bIns="45720" rtlCol="0"/>
          <a:lstStyle>
            <a:lvl1pPr algn="r">
              <a:defRPr sz="1200"/>
            </a:lvl1pPr>
          </a:lstStyle>
          <a:p>
            <a:fld id="{3B3F8DA4-59CB-410B-B201-FF821A5DE9BE}" type="datetimeFigureOut">
              <a:rPr lang="en-IN" smtClean="0"/>
              <a:pPr/>
              <a:t>10-05-2026</a:t>
            </a:fld>
            <a:endParaRPr lang="en-IN"/>
          </a:p>
        </p:txBody>
      </p:sp>
      <p:sp>
        <p:nvSpPr>
          <p:cNvPr id="4" name="Slide Image Placeholder 3"/>
          <p:cNvSpPr>
            <a:spLocks noGrp="1" noRot="1" noChangeAspect="1"/>
          </p:cNvSpPr>
          <p:nvPr>
            <p:ph type="sldImg" idx="2"/>
          </p:nvPr>
        </p:nvSpPr>
        <p:spPr>
          <a:xfrm>
            <a:off x="4845050" y="1028700"/>
            <a:ext cx="4940300" cy="277812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463675" y="3960813"/>
            <a:ext cx="11703050" cy="324008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7816850"/>
            <a:ext cx="6340475" cy="41275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8286750" y="7816850"/>
            <a:ext cx="6340475" cy="412750"/>
          </a:xfrm>
          <a:prstGeom prst="rect">
            <a:avLst/>
          </a:prstGeom>
        </p:spPr>
        <p:txBody>
          <a:bodyPr vert="horz" lIns="91440" tIns="45720" rIns="91440" bIns="45720" rtlCol="0" anchor="b"/>
          <a:lstStyle>
            <a:lvl1pPr algn="r">
              <a:defRPr sz="1200"/>
            </a:lvl1pPr>
          </a:lstStyle>
          <a:p>
            <a:fld id="{F35A674D-F6B2-4AB7-9E79-4B9A23E52658}" type="slidenum">
              <a:rPr lang="en-IN" smtClean="0"/>
              <a:pPr/>
              <a:t>‹#›</a:t>
            </a:fld>
            <a:endParaRPr lang="en-IN"/>
          </a:p>
        </p:txBody>
      </p:sp>
    </p:spTree>
    <p:extLst>
      <p:ext uri="{BB962C8B-B14F-4D97-AF65-F5344CB8AC3E}">
        <p14:creationId xmlns:p14="http://schemas.microsoft.com/office/powerpoint/2010/main" val="25839803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F35A674D-F6B2-4AB7-9E79-4B9A23E52658}" type="slidenum">
              <a:rPr lang="en-IN" smtClean="0"/>
              <a:pPr/>
              <a:t>5</a:t>
            </a:fld>
            <a:endParaRPr lang="en-IN"/>
          </a:p>
        </p:txBody>
      </p:sp>
    </p:spTree>
    <p:extLst>
      <p:ext uri="{BB962C8B-B14F-4D97-AF65-F5344CB8AC3E}">
        <p14:creationId xmlns:p14="http://schemas.microsoft.com/office/powerpoint/2010/main" val="31498909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1097280" y="2551176"/>
            <a:ext cx="12435840" cy="1728216"/>
          </a:xfrm>
          <a:prstGeom prst="rect">
            <a:avLst/>
          </a:prstGeom>
        </p:spPr>
        <p:txBody>
          <a:bodyPr wrap="square" lIns="0" tIns="0" rIns="0" bIns="0">
            <a:spAutoFit/>
          </a:bodyPr>
          <a:lstStyle>
            <a:lvl1pPr>
              <a:defRPr sz="3950" b="1" i="0" u="sng">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2194560" y="4608576"/>
            <a:ext cx="10241280" cy="2057400"/>
          </a:xfrm>
          <a:prstGeom prst="rect">
            <a:avLst/>
          </a:prstGeom>
        </p:spPr>
        <p:txBody>
          <a:bodyPr wrap="square" lIns="0" tIns="0" rIns="0" bIns="0">
            <a:spAutoFit/>
          </a:bodyPr>
          <a:lstStyle>
            <a:lvl1pPr>
              <a:defRPr sz="215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5/10/2026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u="sng">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215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5/10/2026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u="sng">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731520" y="1892808"/>
            <a:ext cx="6364224" cy="5431536"/>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7534656" y="1892808"/>
            <a:ext cx="6364224" cy="5431536"/>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5/10/2026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950" b="1" i="0" u="sng">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5/10/2026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5/10/2026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489835" y="252666"/>
            <a:ext cx="10111740" cy="1338643"/>
          </a:xfrm>
          <a:prstGeom prst="rect">
            <a:avLst/>
          </a:prstGeom>
        </p:spPr>
        <p:txBody>
          <a:bodyPr wrap="square" lIns="0" tIns="0" rIns="0" bIns="0">
            <a:spAutoFit/>
          </a:bodyPr>
          <a:lstStyle>
            <a:lvl1pPr>
              <a:defRPr sz="3950" b="1" i="0" u="sng">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662940" y="1898332"/>
            <a:ext cx="13639165" cy="4133850"/>
          </a:xfrm>
          <a:prstGeom prst="rect">
            <a:avLst/>
          </a:prstGeom>
        </p:spPr>
        <p:txBody>
          <a:bodyPr wrap="square" lIns="0" tIns="0" rIns="0" bIns="0">
            <a:spAutoFit/>
          </a:bodyPr>
          <a:lstStyle>
            <a:lvl1pPr>
              <a:defRPr sz="215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4974336" y="7653528"/>
            <a:ext cx="4681728" cy="41148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731520" y="7653528"/>
            <a:ext cx="3364992" cy="41148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5/10/2026</a:t>
            </a:fld>
            <a:endParaRPr lang="en-US"/>
          </a:p>
        </p:txBody>
      </p:sp>
      <p:sp>
        <p:nvSpPr>
          <p:cNvPr id="6" name="Holder 6"/>
          <p:cNvSpPr>
            <a:spLocks noGrp="1"/>
          </p:cNvSpPr>
          <p:nvPr>
            <p:ph type="sldNum" sz="quarter" idx="7"/>
          </p:nvPr>
        </p:nvSpPr>
        <p:spPr>
          <a:xfrm>
            <a:off x="10533888" y="7653528"/>
            <a:ext cx="3364992" cy="41148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2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 name="object 2"/>
          <p:cNvGrpSpPr/>
          <p:nvPr/>
        </p:nvGrpSpPr>
        <p:grpSpPr>
          <a:xfrm>
            <a:off x="276225" y="207612"/>
            <a:ext cx="1428750" cy="1231647"/>
            <a:chOff x="114219" y="37801"/>
            <a:chExt cx="2138680" cy="1739264"/>
          </a:xfrm>
        </p:grpSpPr>
        <p:pic>
          <p:nvPicPr>
            <p:cNvPr id="3" name="object 3"/>
            <p:cNvPicPr/>
            <p:nvPr/>
          </p:nvPicPr>
          <p:blipFill>
            <a:blip r:embed="rId2" cstate="print"/>
            <a:stretch>
              <a:fillRect/>
            </a:stretch>
          </p:blipFill>
          <p:spPr>
            <a:xfrm>
              <a:off x="114219" y="37801"/>
              <a:ext cx="2138587" cy="1738846"/>
            </a:xfrm>
            <a:prstGeom prst="rect">
              <a:avLst/>
            </a:prstGeom>
          </p:spPr>
        </p:pic>
        <p:pic>
          <p:nvPicPr>
            <p:cNvPr id="4" name="object 4"/>
            <p:cNvPicPr/>
            <p:nvPr/>
          </p:nvPicPr>
          <p:blipFill>
            <a:blip r:embed="rId3" cstate="print"/>
            <a:stretch>
              <a:fillRect/>
            </a:stretch>
          </p:blipFill>
          <p:spPr>
            <a:xfrm>
              <a:off x="276225" y="190499"/>
              <a:ext cx="1819275" cy="1428750"/>
            </a:xfrm>
            <a:prstGeom prst="rect">
              <a:avLst/>
            </a:prstGeom>
          </p:spPr>
        </p:pic>
      </p:grpSp>
      <p:sp>
        <p:nvSpPr>
          <p:cNvPr id="5" name="object 5"/>
          <p:cNvSpPr txBox="1">
            <a:spLocks noGrp="1"/>
          </p:cNvSpPr>
          <p:nvPr>
            <p:ph type="title"/>
          </p:nvPr>
        </p:nvSpPr>
        <p:spPr>
          <a:xfrm>
            <a:off x="2030730" y="411780"/>
            <a:ext cx="10111740" cy="1215076"/>
          </a:xfrm>
          <a:prstGeom prst="rect">
            <a:avLst/>
          </a:prstGeom>
        </p:spPr>
        <p:txBody>
          <a:bodyPr vert="horz" wrap="square" lIns="0" tIns="60325" rIns="0" bIns="0" rtlCol="0">
            <a:spAutoFit/>
          </a:bodyPr>
          <a:lstStyle/>
          <a:p>
            <a:pPr marL="1655445" marR="5080" indent="-1643380" algn="ctr">
              <a:lnSpc>
                <a:spcPts val="4500"/>
              </a:lnSpc>
              <a:spcBef>
                <a:spcPts val="475"/>
              </a:spcBef>
            </a:pPr>
            <a:r>
              <a:rPr u="none" dirty="0"/>
              <a:t>Jawaharlal</a:t>
            </a:r>
            <a:r>
              <a:rPr u="none" spc="40" dirty="0"/>
              <a:t> </a:t>
            </a:r>
            <a:r>
              <a:rPr u="none" dirty="0"/>
              <a:t>Nehru</a:t>
            </a:r>
            <a:r>
              <a:rPr u="none" spc="70" dirty="0"/>
              <a:t> </a:t>
            </a:r>
            <a:r>
              <a:rPr u="none" dirty="0"/>
              <a:t>New</a:t>
            </a:r>
            <a:r>
              <a:rPr u="none" spc="90" dirty="0"/>
              <a:t> </a:t>
            </a:r>
            <a:r>
              <a:rPr u="none" dirty="0"/>
              <a:t>College</a:t>
            </a:r>
            <a:r>
              <a:rPr u="none" spc="60" dirty="0"/>
              <a:t> </a:t>
            </a:r>
            <a:r>
              <a:rPr u="none" dirty="0"/>
              <a:t>of</a:t>
            </a:r>
            <a:r>
              <a:rPr u="none" spc="50" dirty="0"/>
              <a:t> </a:t>
            </a:r>
            <a:r>
              <a:rPr u="none" spc="-10" dirty="0"/>
              <a:t>Engineering </a:t>
            </a:r>
            <a:r>
              <a:rPr u="none" dirty="0" err="1"/>
              <a:t>Shimo</a:t>
            </a:r>
            <a:r>
              <a:rPr lang="en-US" u="none" dirty="0" err="1"/>
              <a:t>gg</a:t>
            </a:r>
            <a:r>
              <a:rPr u="none" dirty="0" err="1"/>
              <a:t>a</a:t>
            </a:r>
            <a:r>
              <a:rPr u="none" dirty="0"/>
              <a:t>,</a:t>
            </a:r>
            <a:r>
              <a:rPr u="none" spc="80" dirty="0"/>
              <a:t> </a:t>
            </a:r>
            <a:r>
              <a:rPr u="none" spc="-10" dirty="0"/>
              <a:t>Karnataka</a:t>
            </a:r>
            <a:r>
              <a:rPr lang="en-IN" u="none" spc="-10" dirty="0"/>
              <a:t>.</a:t>
            </a:r>
            <a:endParaRPr u="none" spc="-10" dirty="0"/>
          </a:p>
        </p:txBody>
      </p:sp>
      <p:sp>
        <p:nvSpPr>
          <p:cNvPr id="6" name="object 6"/>
          <p:cNvSpPr txBox="1"/>
          <p:nvPr/>
        </p:nvSpPr>
        <p:spPr>
          <a:xfrm>
            <a:off x="1008153" y="2547464"/>
            <a:ext cx="12861925" cy="615553"/>
          </a:xfrm>
          <a:prstGeom prst="rect">
            <a:avLst/>
          </a:prstGeom>
        </p:spPr>
        <p:txBody>
          <a:bodyPr vert="horz" wrap="square" lIns="0" tIns="53340" rIns="0" bIns="0" rtlCol="0">
            <a:spAutoFit/>
          </a:bodyPr>
          <a:lstStyle/>
          <a:p>
            <a:pPr marL="4445" algn="ctr">
              <a:lnSpc>
                <a:spcPct val="100000"/>
              </a:lnSpc>
              <a:spcBef>
                <a:spcPts val="455"/>
              </a:spcBef>
            </a:pPr>
            <a:r>
              <a:rPr lang="en-US" sz="3650" b="1" dirty="0">
                <a:latin typeface="Times New Roman"/>
                <a:cs typeface="Times New Roman"/>
              </a:rPr>
              <a:t>RES Based Project </a:t>
            </a:r>
            <a:r>
              <a:rPr sz="3650" b="1" dirty="0">
                <a:latin typeface="Times New Roman"/>
                <a:cs typeface="Times New Roman"/>
              </a:rPr>
              <a:t>Presentation</a:t>
            </a:r>
            <a:r>
              <a:rPr sz="3650" b="1" spc="110" dirty="0">
                <a:latin typeface="Times New Roman"/>
                <a:cs typeface="Times New Roman"/>
              </a:rPr>
              <a:t> </a:t>
            </a:r>
            <a:r>
              <a:rPr sz="3650" b="1" spc="-25" dirty="0">
                <a:latin typeface="Times New Roman"/>
                <a:cs typeface="Times New Roman"/>
              </a:rPr>
              <a:t>on</a:t>
            </a:r>
            <a:endParaRPr sz="3650" b="1" dirty="0">
              <a:latin typeface="Times New Roman"/>
              <a:cs typeface="Times New Roman"/>
            </a:endParaRPr>
          </a:p>
        </p:txBody>
      </p:sp>
      <p:graphicFrame>
        <p:nvGraphicFramePr>
          <p:cNvPr id="7" name="object 7"/>
          <p:cNvGraphicFramePr>
            <a:graphicFrameLocks noGrp="1"/>
          </p:cNvGraphicFramePr>
          <p:nvPr>
            <p:extLst>
              <p:ext uri="{D42A27DB-BD31-4B8C-83A1-F6EECF244321}">
                <p14:modId xmlns:p14="http://schemas.microsoft.com/office/powerpoint/2010/main" val="2880236052"/>
              </p:ext>
            </p:extLst>
          </p:nvPr>
        </p:nvGraphicFramePr>
        <p:xfrm>
          <a:off x="-1371600" y="4800600"/>
          <a:ext cx="1081452" cy="1231647"/>
        </p:xfrm>
        <a:graphic>
          <a:graphicData uri="http://schemas.openxmlformats.org/drawingml/2006/table">
            <a:tbl>
              <a:tblPr firstRow="1" bandRow="1">
                <a:tableStyleId>{2D5ABB26-0587-4C30-8999-92F81FD0307C}</a:tableStyleId>
              </a:tblPr>
              <a:tblGrid>
                <a:gridCol w="360484">
                  <a:extLst>
                    <a:ext uri="{9D8B030D-6E8A-4147-A177-3AD203B41FA5}">
                      <a16:colId xmlns:a16="http://schemas.microsoft.com/office/drawing/2014/main" val="20000"/>
                    </a:ext>
                  </a:extLst>
                </a:gridCol>
                <a:gridCol w="360484">
                  <a:extLst>
                    <a:ext uri="{9D8B030D-6E8A-4147-A177-3AD203B41FA5}">
                      <a16:colId xmlns:a16="http://schemas.microsoft.com/office/drawing/2014/main" val="20001"/>
                    </a:ext>
                  </a:extLst>
                </a:gridCol>
                <a:gridCol w="360484">
                  <a:extLst>
                    <a:ext uri="{9D8B030D-6E8A-4147-A177-3AD203B41FA5}">
                      <a16:colId xmlns:a16="http://schemas.microsoft.com/office/drawing/2014/main" val="20002"/>
                    </a:ext>
                  </a:extLst>
                </a:gridCol>
              </a:tblGrid>
              <a:tr h="0">
                <a:tc>
                  <a:txBody>
                    <a:bodyPr/>
                    <a:lstStyle/>
                    <a:p>
                      <a:pPr marL="31750">
                        <a:lnSpc>
                          <a:spcPts val="2370"/>
                        </a:lnSpc>
                      </a:pPr>
                      <a:endParaRPr sz="2150" dirty="0">
                        <a:latin typeface="Times New Roman"/>
                        <a:cs typeface="Times New Roman"/>
                      </a:endParaRPr>
                    </a:p>
                  </a:txBody>
                  <a:tcPr marL="0" marR="0" marT="0" marB="0"/>
                </a:tc>
                <a:tc>
                  <a:txBody>
                    <a:bodyPr/>
                    <a:lstStyle/>
                    <a:p>
                      <a:pPr>
                        <a:lnSpc>
                          <a:spcPct val="100000"/>
                        </a:lnSpc>
                      </a:pPr>
                      <a:endParaRPr sz="2200" dirty="0">
                        <a:latin typeface="Times New Roman"/>
                        <a:cs typeface="Times New Roman"/>
                      </a:endParaRPr>
                    </a:p>
                  </a:txBody>
                  <a:tcPr marL="0" marR="0" marT="0" marB="0"/>
                </a:tc>
                <a:tc>
                  <a:txBody>
                    <a:bodyPr/>
                    <a:lstStyle/>
                    <a:p>
                      <a:pPr marL="3145790">
                        <a:lnSpc>
                          <a:spcPts val="2370"/>
                        </a:lnSpc>
                      </a:pPr>
                      <a:endParaRPr sz="2150" dirty="0">
                        <a:latin typeface="Times New Roman"/>
                        <a:cs typeface="Times New Roman"/>
                      </a:endParaRPr>
                    </a:p>
                  </a:txBody>
                  <a:tcPr marL="0" marR="0" marT="0" marB="0"/>
                </a:tc>
                <a:extLst>
                  <a:ext uri="{0D108BD9-81ED-4DB2-BD59-A6C34878D82A}">
                    <a16:rowId xmlns:a16="http://schemas.microsoft.com/office/drawing/2014/main" val="10000"/>
                  </a:ext>
                </a:extLst>
              </a:tr>
              <a:tr h="0">
                <a:tc>
                  <a:txBody>
                    <a:bodyPr/>
                    <a:lstStyle/>
                    <a:p>
                      <a:pPr marL="31750">
                        <a:lnSpc>
                          <a:spcPct val="150000"/>
                        </a:lnSpc>
                        <a:spcBef>
                          <a:spcPts val="125"/>
                        </a:spcBef>
                      </a:pPr>
                      <a:endParaRPr sz="2150" dirty="0">
                        <a:latin typeface="Times New Roman"/>
                        <a:cs typeface="Times New Roman"/>
                      </a:endParaRPr>
                    </a:p>
                  </a:txBody>
                  <a:tcPr marL="0" marR="0" marT="15875" marB="0"/>
                </a:tc>
                <a:tc>
                  <a:txBody>
                    <a:bodyPr/>
                    <a:lstStyle/>
                    <a:p>
                      <a:pPr marL="125095">
                        <a:lnSpc>
                          <a:spcPct val="150000"/>
                        </a:lnSpc>
                        <a:spcBef>
                          <a:spcPts val="125"/>
                        </a:spcBef>
                      </a:pPr>
                      <a:endParaRPr sz="2150" dirty="0">
                        <a:latin typeface="Times New Roman"/>
                        <a:cs typeface="Times New Roman"/>
                      </a:endParaRPr>
                    </a:p>
                  </a:txBody>
                  <a:tcPr marL="0" marR="0" marT="15875" marB="0"/>
                </a:tc>
                <a:tc>
                  <a:txBody>
                    <a:bodyPr/>
                    <a:lstStyle/>
                    <a:p>
                      <a:pPr marR="208915" algn="r">
                        <a:lnSpc>
                          <a:spcPct val="100000"/>
                        </a:lnSpc>
                        <a:spcBef>
                          <a:spcPts val="125"/>
                        </a:spcBef>
                      </a:pPr>
                      <a:endParaRPr sz="2000" b="1" dirty="0">
                        <a:latin typeface="Times New Roman"/>
                        <a:cs typeface="Times New Roman"/>
                      </a:endParaRPr>
                    </a:p>
                  </a:txBody>
                  <a:tcPr marL="0" marR="0" marT="15875" marB="0"/>
                </a:tc>
                <a:extLst>
                  <a:ext uri="{0D108BD9-81ED-4DB2-BD59-A6C34878D82A}">
                    <a16:rowId xmlns:a16="http://schemas.microsoft.com/office/drawing/2014/main" val="10001"/>
                  </a:ext>
                </a:extLst>
              </a:tr>
              <a:tr h="0">
                <a:tc>
                  <a:txBody>
                    <a:bodyPr/>
                    <a:lstStyle/>
                    <a:p>
                      <a:pPr marL="31750">
                        <a:lnSpc>
                          <a:spcPct val="150000"/>
                        </a:lnSpc>
                        <a:spcBef>
                          <a:spcPts val="120"/>
                        </a:spcBef>
                      </a:pPr>
                      <a:endParaRPr sz="2150" dirty="0">
                        <a:latin typeface="Times New Roman"/>
                        <a:cs typeface="Times New Roman"/>
                      </a:endParaRPr>
                    </a:p>
                  </a:txBody>
                  <a:tcPr marL="0" marR="0" marT="15240" marB="0"/>
                </a:tc>
                <a:tc>
                  <a:txBody>
                    <a:bodyPr/>
                    <a:lstStyle/>
                    <a:p>
                      <a:pPr marL="86995">
                        <a:lnSpc>
                          <a:spcPct val="150000"/>
                        </a:lnSpc>
                        <a:spcBef>
                          <a:spcPts val="120"/>
                        </a:spcBef>
                      </a:pPr>
                      <a:endParaRPr sz="2150" dirty="0">
                        <a:latin typeface="Times New Roman"/>
                        <a:cs typeface="Times New Roman"/>
                      </a:endParaRPr>
                    </a:p>
                  </a:txBody>
                  <a:tcPr marL="0" marR="0" marT="15240" marB="0"/>
                </a:tc>
                <a:tc>
                  <a:txBody>
                    <a:bodyPr/>
                    <a:lstStyle/>
                    <a:p>
                      <a:pPr marL="3441700">
                        <a:lnSpc>
                          <a:spcPct val="150000"/>
                        </a:lnSpc>
                        <a:spcBef>
                          <a:spcPts val="120"/>
                        </a:spcBef>
                      </a:pPr>
                      <a:endParaRPr sz="2000" b="1" dirty="0">
                        <a:latin typeface="Times New Roman"/>
                        <a:cs typeface="Times New Roman"/>
                      </a:endParaRPr>
                    </a:p>
                  </a:txBody>
                  <a:tcPr marL="0" marR="0" marT="15240" marB="0"/>
                </a:tc>
                <a:extLst>
                  <a:ext uri="{0D108BD9-81ED-4DB2-BD59-A6C34878D82A}">
                    <a16:rowId xmlns:a16="http://schemas.microsoft.com/office/drawing/2014/main" val="10002"/>
                  </a:ext>
                </a:extLst>
              </a:tr>
            </a:tbl>
          </a:graphicData>
        </a:graphic>
      </p:graphicFrame>
      <p:pic>
        <p:nvPicPr>
          <p:cNvPr id="10" name="object 10"/>
          <p:cNvPicPr/>
          <p:nvPr/>
        </p:nvPicPr>
        <p:blipFill>
          <a:blip r:embed="rId4" cstate="print"/>
          <a:stretch>
            <a:fillRect/>
          </a:stretch>
        </p:blipFill>
        <p:spPr>
          <a:xfrm>
            <a:off x="12801600" y="315744"/>
            <a:ext cx="990600" cy="1119891"/>
          </a:xfrm>
          <a:prstGeom prst="rect">
            <a:avLst/>
          </a:prstGeom>
        </p:spPr>
      </p:pic>
      <p:sp>
        <p:nvSpPr>
          <p:cNvPr id="11" name="TextBox 10">
            <a:extLst>
              <a:ext uri="{FF2B5EF4-FFF2-40B4-BE49-F238E27FC236}">
                <a16:creationId xmlns:a16="http://schemas.microsoft.com/office/drawing/2014/main" id="{17D07250-FDB7-4565-0283-68CE3699B17E}"/>
              </a:ext>
            </a:extLst>
          </p:cNvPr>
          <p:cNvSpPr txBox="1"/>
          <p:nvPr/>
        </p:nvSpPr>
        <p:spPr>
          <a:xfrm>
            <a:off x="3390900" y="1940493"/>
            <a:ext cx="7848600" cy="830997"/>
          </a:xfrm>
          <a:prstGeom prst="rect">
            <a:avLst/>
          </a:prstGeom>
          <a:noFill/>
        </p:spPr>
        <p:txBody>
          <a:bodyPr wrap="square" rtlCol="0">
            <a:spAutoFit/>
          </a:bodyPr>
          <a:lstStyle/>
          <a:p>
            <a:pPr algn="ctr"/>
            <a:r>
              <a:rPr lang="en-US" sz="2400" dirty="0">
                <a:solidFill>
                  <a:srgbClr val="171717"/>
                </a:solidFill>
                <a:latin typeface="Times New Roman"/>
                <a:cs typeface="Times New Roman"/>
              </a:rPr>
              <a:t>Department</a:t>
            </a:r>
            <a:r>
              <a:rPr lang="en-US" sz="2400" spc="-85" dirty="0">
                <a:solidFill>
                  <a:srgbClr val="171717"/>
                </a:solidFill>
                <a:latin typeface="Times New Roman"/>
                <a:cs typeface="Times New Roman"/>
              </a:rPr>
              <a:t> </a:t>
            </a:r>
            <a:r>
              <a:rPr lang="en-US" sz="2400" dirty="0">
                <a:solidFill>
                  <a:srgbClr val="171717"/>
                </a:solidFill>
                <a:latin typeface="Times New Roman"/>
                <a:cs typeface="Times New Roman"/>
              </a:rPr>
              <a:t>of</a:t>
            </a:r>
            <a:r>
              <a:rPr lang="en-US" sz="2400" spc="-114" dirty="0">
                <a:solidFill>
                  <a:srgbClr val="171717"/>
                </a:solidFill>
                <a:latin typeface="Times New Roman"/>
                <a:cs typeface="Times New Roman"/>
              </a:rPr>
              <a:t> </a:t>
            </a:r>
            <a:r>
              <a:rPr lang="en-US" sz="2400" dirty="0">
                <a:solidFill>
                  <a:srgbClr val="171717"/>
                </a:solidFill>
                <a:latin typeface="Times New Roman"/>
                <a:cs typeface="Times New Roman"/>
              </a:rPr>
              <a:t>Electrical</a:t>
            </a:r>
            <a:r>
              <a:rPr lang="en-US" sz="2400" spc="-25" dirty="0">
                <a:solidFill>
                  <a:srgbClr val="171717"/>
                </a:solidFill>
                <a:latin typeface="Times New Roman"/>
                <a:cs typeface="Times New Roman"/>
              </a:rPr>
              <a:t> </a:t>
            </a:r>
            <a:r>
              <a:rPr lang="en-US" sz="2400" dirty="0">
                <a:solidFill>
                  <a:srgbClr val="171717"/>
                </a:solidFill>
                <a:latin typeface="Times New Roman"/>
                <a:cs typeface="Times New Roman"/>
              </a:rPr>
              <a:t>and</a:t>
            </a:r>
            <a:r>
              <a:rPr lang="en-US" sz="2400" spc="-55" dirty="0">
                <a:solidFill>
                  <a:srgbClr val="171717"/>
                </a:solidFill>
                <a:latin typeface="Times New Roman"/>
                <a:cs typeface="Times New Roman"/>
              </a:rPr>
              <a:t> </a:t>
            </a:r>
            <a:r>
              <a:rPr lang="en-US" sz="2400" dirty="0">
                <a:solidFill>
                  <a:srgbClr val="171717"/>
                </a:solidFill>
                <a:latin typeface="Times New Roman"/>
                <a:cs typeface="Times New Roman"/>
              </a:rPr>
              <a:t>Electronics</a:t>
            </a:r>
            <a:r>
              <a:rPr lang="en-US" sz="2400" spc="-5" dirty="0">
                <a:solidFill>
                  <a:srgbClr val="171717"/>
                </a:solidFill>
                <a:latin typeface="Times New Roman"/>
                <a:cs typeface="Times New Roman"/>
              </a:rPr>
              <a:t> </a:t>
            </a:r>
            <a:r>
              <a:rPr lang="en-US" sz="2400" spc="-10" dirty="0">
                <a:solidFill>
                  <a:srgbClr val="171717"/>
                </a:solidFill>
                <a:latin typeface="Times New Roman"/>
                <a:cs typeface="Times New Roman"/>
              </a:rPr>
              <a:t>Engineering</a:t>
            </a:r>
            <a:endParaRPr lang="en-US" sz="2400" dirty="0">
              <a:latin typeface="Times New Roman"/>
              <a:cs typeface="Times New Roman"/>
            </a:endParaRPr>
          </a:p>
          <a:p>
            <a:endParaRPr lang="en-IN" sz="2400" dirty="0"/>
          </a:p>
        </p:txBody>
      </p:sp>
      <p:cxnSp>
        <p:nvCxnSpPr>
          <p:cNvPr id="13" name="Straight Connector 12">
            <a:extLst>
              <a:ext uri="{FF2B5EF4-FFF2-40B4-BE49-F238E27FC236}">
                <a16:creationId xmlns:a16="http://schemas.microsoft.com/office/drawing/2014/main" id="{9E5B9CF6-8FB2-86CE-302E-8795FAAC9CBA}"/>
              </a:ext>
            </a:extLst>
          </p:cNvPr>
          <p:cNvCxnSpPr/>
          <p:nvPr/>
        </p:nvCxnSpPr>
        <p:spPr>
          <a:xfrm>
            <a:off x="152400" y="1752600"/>
            <a:ext cx="14249400" cy="0"/>
          </a:xfrm>
          <a:prstGeom prst="line">
            <a:avLst/>
          </a:prstGeom>
        </p:spPr>
        <p:style>
          <a:lnRef idx="1">
            <a:schemeClr val="dk1"/>
          </a:lnRef>
          <a:fillRef idx="0">
            <a:schemeClr val="dk1"/>
          </a:fillRef>
          <a:effectRef idx="0">
            <a:schemeClr val="dk1"/>
          </a:effectRef>
          <a:fontRef idx="minor">
            <a:schemeClr val="tx1"/>
          </a:fontRef>
        </p:style>
      </p:cxnSp>
      <p:cxnSp>
        <p:nvCxnSpPr>
          <p:cNvPr id="14" name="Straight Connector 13">
            <a:extLst>
              <a:ext uri="{FF2B5EF4-FFF2-40B4-BE49-F238E27FC236}">
                <a16:creationId xmlns:a16="http://schemas.microsoft.com/office/drawing/2014/main" id="{DAB01527-1D36-27AB-07E1-A6AC22F3E11C}"/>
              </a:ext>
            </a:extLst>
          </p:cNvPr>
          <p:cNvCxnSpPr/>
          <p:nvPr/>
        </p:nvCxnSpPr>
        <p:spPr>
          <a:xfrm>
            <a:off x="152400" y="1828800"/>
            <a:ext cx="14249400" cy="0"/>
          </a:xfrm>
          <a:prstGeom prst="line">
            <a:avLst/>
          </a:prstGeom>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D0E8FF5E-B3E4-C450-2D5E-1CC98EB9F1D6}"/>
              </a:ext>
            </a:extLst>
          </p:cNvPr>
          <p:cNvSpPr txBox="1"/>
          <p:nvPr/>
        </p:nvSpPr>
        <p:spPr>
          <a:xfrm>
            <a:off x="1457416" y="3391525"/>
            <a:ext cx="11963400" cy="1446550"/>
          </a:xfrm>
          <a:prstGeom prst="rect">
            <a:avLst/>
          </a:prstGeom>
          <a:noFill/>
        </p:spPr>
        <p:txBody>
          <a:bodyPr wrap="square" rtlCol="0">
            <a:spAutoFit/>
          </a:bodyPr>
          <a:lstStyle/>
          <a:p>
            <a:pPr algn="ctr"/>
            <a:r>
              <a:rPr lang="en-US" sz="4400" b="1" spc="300" dirty="0">
                <a:latin typeface="Algerian" panose="04020705040A02060702" pitchFamily="82" charset="0"/>
              </a:rPr>
              <a:t>“</a:t>
            </a:r>
            <a:r>
              <a:rPr lang="en-US" sz="4400" b="1" dirty="0">
                <a:latin typeface="Algerian" panose="04020705040A02060702" pitchFamily="82" charset="0"/>
              </a:rPr>
              <a:t>AI - ML BASED AUTONOMOUS SOLAR PANEL CLEANING BOT ”</a:t>
            </a:r>
            <a:endParaRPr lang="en-IN" sz="4400" b="1" spc="300" dirty="0">
              <a:latin typeface="Algerian" panose="04020705040A02060702" pitchFamily="82" charset="0"/>
            </a:endParaRPr>
          </a:p>
        </p:txBody>
      </p:sp>
      <p:sp>
        <p:nvSpPr>
          <p:cNvPr id="16" name="TextBox 15">
            <a:extLst>
              <a:ext uri="{FF2B5EF4-FFF2-40B4-BE49-F238E27FC236}">
                <a16:creationId xmlns:a16="http://schemas.microsoft.com/office/drawing/2014/main" id="{5E12D801-771D-BAAF-7895-5109224179BC}"/>
              </a:ext>
            </a:extLst>
          </p:cNvPr>
          <p:cNvSpPr txBox="1"/>
          <p:nvPr/>
        </p:nvSpPr>
        <p:spPr>
          <a:xfrm>
            <a:off x="838200" y="5182612"/>
            <a:ext cx="5105400" cy="3046988"/>
          </a:xfrm>
          <a:prstGeom prst="rect">
            <a:avLst/>
          </a:prstGeom>
          <a:noFill/>
        </p:spPr>
        <p:txBody>
          <a:bodyPr wrap="square" rtlCol="0">
            <a:spAutoFit/>
          </a:bodyPr>
          <a:lstStyle/>
          <a:p>
            <a:pPr>
              <a:lnSpc>
                <a:spcPct val="150000"/>
              </a:lnSpc>
            </a:pPr>
            <a:r>
              <a:rPr lang="en-IN" sz="2000" b="1" dirty="0"/>
              <a:t>PRESENTED  BY: </a:t>
            </a:r>
          </a:p>
          <a:p>
            <a:pPr>
              <a:lnSpc>
                <a:spcPct val="150000"/>
              </a:lnSpc>
            </a:pPr>
            <a:r>
              <a:rPr lang="en-IN" b="1" dirty="0"/>
              <a:t>Animisha P                        (4JN22EE005)</a:t>
            </a:r>
          </a:p>
          <a:p>
            <a:pPr>
              <a:lnSpc>
                <a:spcPct val="150000"/>
              </a:lnSpc>
            </a:pPr>
            <a:r>
              <a:rPr lang="en-IN" b="1" dirty="0"/>
              <a:t>Anagha S                          (4JN23EE007)</a:t>
            </a:r>
          </a:p>
          <a:p>
            <a:pPr>
              <a:lnSpc>
                <a:spcPct val="150000"/>
              </a:lnSpc>
            </a:pPr>
            <a:r>
              <a:rPr lang="es-ES" b="1" dirty="0"/>
              <a:t>Neha A </a:t>
            </a:r>
            <a:r>
              <a:rPr lang="es-ES" b="1" dirty="0" err="1"/>
              <a:t>Kuruvinashetty</a:t>
            </a:r>
            <a:r>
              <a:rPr lang="es-ES" b="1" dirty="0"/>
              <a:t>     (4JN23EE033) </a:t>
            </a:r>
          </a:p>
          <a:p>
            <a:pPr>
              <a:lnSpc>
                <a:spcPct val="150000"/>
              </a:lnSpc>
            </a:pPr>
            <a:r>
              <a:rPr lang="es-ES" b="1" dirty="0"/>
              <a:t>Nisarga G                          (4JN23EE034)</a:t>
            </a:r>
          </a:p>
          <a:p>
            <a:pPr>
              <a:lnSpc>
                <a:spcPct val="150000"/>
              </a:lnSpc>
            </a:pPr>
            <a:endParaRPr lang="en-IN" dirty="0"/>
          </a:p>
          <a:p>
            <a:pPr>
              <a:lnSpc>
                <a:spcPct val="150000"/>
              </a:lnSpc>
            </a:pPr>
            <a:endParaRPr lang="en-IN" dirty="0"/>
          </a:p>
        </p:txBody>
      </p:sp>
      <p:sp>
        <p:nvSpPr>
          <p:cNvPr id="17" name="TextBox 16">
            <a:extLst>
              <a:ext uri="{FF2B5EF4-FFF2-40B4-BE49-F238E27FC236}">
                <a16:creationId xmlns:a16="http://schemas.microsoft.com/office/drawing/2014/main" id="{8E5DA12C-EA48-9649-0C8F-DF3C17D2E043}"/>
              </a:ext>
            </a:extLst>
          </p:cNvPr>
          <p:cNvSpPr txBox="1"/>
          <p:nvPr/>
        </p:nvSpPr>
        <p:spPr>
          <a:xfrm>
            <a:off x="9829800" y="5182612"/>
            <a:ext cx="4343400" cy="1841530"/>
          </a:xfrm>
          <a:prstGeom prst="rect">
            <a:avLst/>
          </a:prstGeom>
          <a:noFill/>
        </p:spPr>
        <p:txBody>
          <a:bodyPr wrap="square" rtlCol="0">
            <a:spAutoFit/>
          </a:bodyPr>
          <a:lstStyle/>
          <a:p>
            <a:pPr>
              <a:lnSpc>
                <a:spcPct val="150000"/>
              </a:lnSpc>
            </a:pPr>
            <a:r>
              <a:rPr lang="en-US" sz="2200" b="1" dirty="0"/>
              <a:t>GUIDED BY :</a:t>
            </a:r>
          </a:p>
          <a:p>
            <a:pPr>
              <a:lnSpc>
                <a:spcPct val="150000"/>
              </a:lnSpc>
            </a:pPr>
            <a:r>
              <a:rPr lang="en-US" sz="2000" b="1" dirty="0">
                <a:latin typeface="Times New Roman" pitchFamily="18" charset="0"/>
                <a:cs typeface="Times New Roman" pitchFamily="18" charset="0"/>
              </a:rPr>
              <a:t>Prof  Manjula  M  G</a:t>
            </a:r>
          </a:p>
          <a:p>
            <a:pPr>
              <a:lnSpc>
                <a:spcPct val="150000"/>
              </a:lnSpc>
            </a:pPr>
            <a:r>
              <a:rPr lang="en-US" i="1" dirty="0"/>
              <a:t>Asst. Professor</a:t>
            </a:r>
          </a:p>
          <a:p>
            <a:pPr>
              <a:lnSpc>
                <a:spcPct val="150000"/>
              </a:lnSpc>
            </a:pPr>
            <a:r>
              <a:rPr lang="en-US" dirty="0"/>
              <a:t>Dept. of  EEE JNNCE , </a:t>
            </a:r>
            <a:r>
              <a:rPr lang="en-US" dirty="0" err="1"/>
              <a:t>shimoga</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19800" y="228600"/>
            <a:ext cx="2514600" cy="553998"/>
          </a:xfrm>
        </p:spPr>
        <p:txBody>
          <a:bodyPr/>
          <a:lstStyle/>
          <a:p>
            <a:r>
              <a:rPr lang="en-US" sz="3600" dirty="0"/>
              <a:t>CONTENT</a:t>
            </a:r>
            <a:endParaRPr lang="en-IN" sz="3600" dirty="0"/>
          </a:p>
        </p:txBody>
      </p:sp>
      <p:sp>
        <p:nvSpPr>
          <p:cNvPr id="3" name="Text Placeholder 2"/>
          <p:cNvSpPr>
            <a:spLocks noGrp="1"/>
          </p:cNvSpPr>
          <p:nvPr>
            <p:ph type="body" idx="1"/>
          </p:nvPr>
        </p:nvSpPr>
        <p:spPr>
          <a:xfrm>
            <a:off x="914400" y="762000"/>
            <a:ext cx="12649200" cy="7135608"/>
          </a:xfrm>
        </p:spPr>
        <p:txBody>
          <a:bodyPr/>
          <a:lstStyle/>
          <a:p>
            <a:pPr marL="342900" indent="-342900">
              <a:lnSpc>
                <a:spcPct val="150000"/>
              </a:lnSpc>
              <a:buFont typeface="Wingdings" panose="05000000000000000000" pitchFamily="2" charset="2"/>
              <a:buChar char="Ø"/>
            </a:pPr>
            <a:r>
              <a:rPr lang="en-US" sz="2400" dirty="0"/>
              <a:t>  Abstract</a:t>
            </a:r>
          </a:p>
          <a:p>
            <a:pPr marL="457200" indent="-457200">
              <a:lnSpc>
                <a:spcPct val="150000"/>
              </a:lnSpc>
              <a:buFont typeface="Wingdings" panose="05000000000000000000" pitchFamily="2" charset="2"/>
              <a:buChar char="Ø"/>
            </a:pPr>
            <a:r>
              <a:rPr lang="en-US" sz="2400" dirty="0"/>
              <a:t>Introduction</a:t>
            </a:r>
          </a:p>
          <a:p>
            <a:pPr marL="457200" indent="-457200">
              <a:lnSpc>
                <a:spcPct val="150000"/>
              </a:lnSpc>
              <a:buFont typeface="Wingdings" panose="05000000000000000000" pitchFamily="2" charset="2"/>
              <a:buChar char="Ø"/>
            </a:pPr>
            <a:r>
              <a:rPr lang="en-US" sz="2400" dirty="0"/>
              <a:t>Literature Survey</a:t>
            </a:r>
          </a:p>
          <a:p>
            <a:pPr marL="457200" indent="-457200">
              <a:lnSpc>
                <a:spcPct val="150000"/>
              </a:lnSpc>
              <a:buFont typeface="Wingdings" panose="05000000000000000000" pitchFamily="2" charset="2"/>
              <a:buChar char="Ø"/>
            </a:pPr>
            <a:r>
              <a:rPr lang="en-US" sz="2400" dirty="0"/>
              <a:t>Objectives</a:t>
            </a:r>
          </a:p>
          <a:p>
            <a:pPr marL="457200" indent="-457200">
              <a:lnSpc>
                <a:spcPct val="150000"/>
              </a:lnSpc>
              <a:buFont typeface="Wingdings" panose="05000000000000000000" pitchFamily="2" charset="2"/>
              <a:buChar char="Ø"/>
            </a:pPr>
            <a:r>
              <a:rPr lang="en-US" sz="2400" dirty="0"/>
              <a:t>Problem statement</a:t>
            </a:r>
          </a:p>
          <a:p>
            <a:pPr marL="457200" indent="-457200">
              <a:lnSpc>
                <a:spcPct val="150000"/>
              </a:lnSpc>
              <a:buFont typeface="Wingdings" panose="05000000000000000000" pitchFamily="2" charset="2"/>
              <a:buChar char="Ø"/>
            </a:pPr>
            <a:r>
              <a:rPr lang="en-US" sz="2400" dirty="0"/>
              <a:t>Block Diagram and Circuit Diagram</a:t>
            </a:r>
          </a:p>
          <a:p>
            <a:pPr marL="457200" indent="-457200">
              <a:lnSpc>
                <a:spcPct val="150000"/>
              </a:lnSpc>
              <a:buFont typeface="Wingdings" panose="05000000000000000000" pitchFamily="2" charset="2"/>
              <a:buChar char="Ø"/>
            </a:pPr>
            <a:r>
              <a:rPr lang="en-US" sz="2400" dirty="0"/>
              <a:t>Methodology</a:t>
            </a:r>
          </a:p>
          <a:p>
            <a:pPr marL="457200" indent="-457200">
              <a:lnSpc>
                <a:spcPct val="150000"/>
              </a:lnSpc>
              <a:buFont typeface="Wingdings" panose="05000000000000000000" pitchFamily="2" charset="2"/>
              <a:buChar char="Ø"/>
            </a:pPr>
            <a:r>
              <a:rPr lang="en-US" sz="2400" dirty="0"/>
              <a:t>Hardware and software requirements</a:t>
            </a:r>
          </a:p>
          <a:p>
            <a:pPr marL="457200" indent="-457200">
              <a:lnSpc>
                <a:spcPct val="150000"/>
              </a:lnSpc>
              <a:buFont typeface="Wingdings" panose="05000000000000000000" pitchFamily="2" charset="2"/>
              <a:buChar char="Ø"/>
            </a:pPr>
            <a:r>
              <a:rPr lang="en-US" sz="2400" dirty="0"/>
              <a:t>Advantages and Disadvantages</a:t>
            </a:r>
          </a:p>
          <a:p>
            <a:pPr marL="457200" indent="-457200">
              <a:lnSpc>
                <a:spcPct val="150000"/>
              </a:lnSpc>
              <a:buFont typeface="Wingdings" panose="05000000000000000000" pitchFamily="2" charset="2"/>
              <a:buChar char="Ø"/>
            </a:pPr>
            <a:r>
              <a:rPr lang="en-US" sz="2400" dirty="0"/>
              <a:t>Applications</a:t>
            </a:r>
          </a:p>
          <a:p>
            <a:pPr marL="457200" indent="-457200">
              <a:lnSpc>
                <a:spcPct val="150000"/>
              </a:lnSpc>
              <a:buFont typeface="Wingdings" panose="05000000000000000000" pitchFamily="2" charset="2"/>
              <a:buChar char="Ø"/>
            </a:pPr>
            <a:r>
              <a:rPr lang="en-US" sz="2400" dirty="0"/>
              <a:t>Result and Conclusion</a:t>
            </a:r>
          </a:p>
          <a:p>
            <a:pPr marL="457200" indent="-457200">
              <a:lnSpc>
                <a:spcPct val="150000"/>
              </a:lnSpc>
              <a:buFont typeface="Wingdings" panose="05000000000000000000" pitchFamily="2" charset="2"/>
              <a:buChar char="Ø"/>
            </a:pPr>
            <a:r>
              <a:rPr lang="en-US" sz="2400" dirty="0"/>
              <a:t>Future scope</a:t>
            </a:r>
          </a:p>
          <a:p>
            <a:pPr marL="457200" indent="-457200">
              <a:lnSpc>
                <a:spcPct val="150000"/>
              </a:lnSpc>
              <a:buFont typeface="Wingdings" panose="05000000000000000000" pitchFamily="2" charset="2"/>
              <a:buChar char="Ø"/>
            </a:pPr>
            <a:r>
              <a:rPr lang="en-US" sz="2400" dirty="0"/>
              <a:t>References</a:t>
            </a:r>
            <a:endParaRPr lang="en-IN" sz="2400" dirty="0"/>
          </a:p>
        </p:txBody>
      </p:sp>
    </p:spTree>
    <p:extLst>
      <p:ext uri="{BB962C8B-B14F-4D97-AF65-F5344CB8AC3E}">
        <p14:creationId xmlns:p14="http://schemas.microsoft.com/office/powerpoint/2010/main" val="4245296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28037"/>
            <a:ext cx="13182600" cy="553998"/>
          </a:xfrm>
        </p:spPr>
        <p:txBody>
          <a:bodyPr/>
          <a:lstStyle/>
          <a:p>
            <a:pPr algn="ctr"/>
            <a:r>
              <a:rPr lang="en-US" sz="3600" dirty="0"/>
              <a:t>INTRODUCTION</a:t>
            </a:r>
            <a:endParaRPr lang="en-IN" sz="3600" dirty="0"/>
          </a:p>
        </p:txBody>
      </p:sp>
      <p:sp>
        <p:nvSpPr>
          <p:cNvPr id="3" name="Text Placeholder 2"/>
          <p:cNvSpPr>
            <a:spLocks noGrp="1"/>
          </p:cNvSpPr>
          <p:nvPr>
            <p:ph type="body" idx="1"/>
          </p:nvPr>
        </p:nvSpPr>
        <p:spPr>
          <a:xfrm>
            <a:off x="838201" y="1219200"/>
            <a:ext cx="12954000" cy="6027612"/>
          </a:xfrm>
        </p:spPr>
        <p:txBody>
          <a:bodyPr/>
          <a:lstStyle/>
          <a:p>
            <a:pPr algn="just">
              <a:lnSpc>
                <a:spcPct val="150000"/>
              </a:lnSpc>
            </a:pPr>
            <a:r>
              <a:rPr lang="en-US" sz="2400" dirty="0"/>
              <a:t>	Solar energy is one of the most promising renewable energy sources, but dust and pollution accumulating on panel surfaces can reduce efficiency by </a:t>
            </a:r>
            <a:r>
              <a:rPr lang="en-US" sz="2400" b="1" dirty="0"/>
              <a:t>5–30%,</a:t>
            </a:r>
            <a:r>
              <a:rPr lang="en-US" sz="2400" dirty="0"/>
              <a:t> particularly in dry and dusty regions. Traditional manual cleaning methods are labor-intensive, costly, and require frequent human intervention, making them impractical for large-scale solar installations.</a:t>
            </a:r>
          </a:p>
          <a:p>
            <a:pPr algn="just">
              <a:lnSpc>
                <a:spcPct val="150000"/>
              </a:lnSpc>
            </a:pPr>
            <a:r>
              <a:rPr lang="en-US" sz="2400" dirty="0"/>
              <a:t>	This project addresses these challenges by introducing an </a:t>
            </a:r>
            <a:r>
              <a:rPr lang="en-US" sz="2400" b="1" dirty="0"/>
              <a:t>AI-based autonomous solar panel cleaning system</a:t>
            </a:r>
            <a:r>
              <a:rPr lang="en-US" sz="2400" dirty="0"/>
              <a:t>. The system continuously monitors panel power output using embedded sensors and fetches real-time air quality data to determine when cleaning is actually needed — rather than cleaning on a fixed schedule regardless of panel condition.</a:t>
            </a:r>
          </a:p>
          <a:p>
            <a:pPr algn="just">
              <a:lnSpc>
                <a:spcPct val="150000"/>
              </a:lnSpc>
            </a:pPr>
            <a:r>
              <a:rPr lang="en-US" sz="2400" dirty="0"/>
              <a:t>	By combining </a:t>
            </a:r>
            <a:r>
              <a:rPr lang="en-US" sz="2400" b="1" dirty="0"/>
              <a:t>ESP32 microcontrollers, MQTT communication, machine learning, and a mobile application</a:t>
            </a:r>
            <a:r>
              <a:rPr lang="en-US" sz="2400" dirty="0"/>
              <a:t>, the system makes intelligent cleaning decisions automatically, reducing water usage, minimizing maintenance costs, and maximizing solar energy output without human involvement.</a:t>
            </a:r>
          </a:p>
        </p:txBody>
      </p:sp>
    </p:spTree>
    <p:extLst>
      <p:ext uri="{BB962C8B-B14F-4D97-AF65-F5344CB8AC3E}">
        <p14:creationId xmlns:p14="http://schemas.microsoft.com/office/powerpoint/2010/main" val="28560160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3600" y="177569"/>
            <a:ext cx="10111740" cy="607859"/>
          </a:xfrm>
        </p:spPr>
        <p:txBody>
          <a:bodyPr/>
          <a:lstStyle/>
          <a:p>
            <a:pPr algn="ctr"/>
            <a:r>
              <a:rPr lang="en-US" dirty="0"/>
              <a:t>Abstract</a:t>
            </a:r>
            <a:endParaRPr lang="en-IN" dirty="0"/>
          </a:p>
        </p:txBody>
      </p:sp>
      <p:sp>
        <p:nvSpPr>
          <p:cNvPr id="3" name="Text Placeholder 2"/>
          <p:cNvSpPr>
            <a:spLocks noGrp="1"/>
          </p:cNvSpPr>
          <p:nvPr>
            <p:ph type="body" idx="1"/>
          </p:nvPr>
        </p:nvSpPr>
        <p:spPr>
          <a:xfrm>
            <a:off x="685800" y="1066800"/>
            <a:ext cx="13258800" cy="6581610"/>
          </a:xfrm>
        </p:spPr>
        <p:txBody>
          <a:bodyPr/>
          <a:lstStyle/>
          <a:p>
            <a:pPr algn="just">
              <a:lnSpc>
                <a:spcPct val="150000"/>
              </a:lnSpc>
            </a:pPr>
            <a:r>
              <a:rPr lang="en-US" sz="2400" dirty="0"/>
              <a:t>	Solar panels lose 15–25% of their energy output due to dust and dirt accumulation on their surface. Traditional manual cleaning methods are labor-intensive, water-wasteful, and economically inefficient. This project presents an AI-powered autonomous solar panel cleaning system that combines two </a:t>
            </a:r>
            <a:r>
              <a:rPr lang="en-US" sz="2400" b="1" dirty="0"/>
              <a:t>ESP32 microcontrollers, a Python </a:t>
            </a:r>
            <a:r>
              <a:rPr lang="en-US" sz="2400" b="1" dirty="0" err="1"/>
              <a:t>FastAPI</a:t>
            </a:r>
            <a:r>
              <a:rPr lang="en-US" sz="2400" b="1" dirty="0"/>
              <a:t> backend server, a PostgreSQL database, real-time air quality monitoring, machine learning, and a React Native mobile application </a:t>
            </a:r>
            <a:r>
              <a:rPr lang="en-US" sz="2400" dirty="0"/>
              <a:t>into a single integrated solution.</a:t>
            </a:r>
          </a:p>
          <a:p>
            <a:pPr algn="just">
              <a:lnSpc>
                <a:spcPct val="150000"/>
              </a:lnSpc>
            </a:pPr>
            <a:r>
              <a:rPr lang="en-US" sz="2400" dirty="0"/>
              <a:t>	</a:t>
            </a:r>
          </a:p>
          <a:p>
            <a:pPr algn="just">
              <a:lnSpc>
                <a:spcPct val="150000"/>
              </a:lnSpc>
            </a:pPr>
            <a:r>
              <a:rPr lang="en-US" sz="2400" dirty="0"/>
              <a:t>	A static ESP32 node measures solar panel voltage, current, power, and energy output, sending data to the backend every five seconds via </a:t>
            </a:r>
            <a:r>
              <a:rPr lang="en-US" sz="2400" b="1" dirty="0"/>
              <a:t>HTTP</a:t>
            </a:r>
            <a:r>
              <a:rPr lang="en-US" sz="2400" dirty="0"/>
              <a:t>. The backend fetches dust </a:t>
            </a:r>
            <a:r>
              <a:rPr lang="en-US" sz="2400" b="1" dirty="0"/>
              <a:t>AQI</a:t>
            </a:r>
            <a:r>
              <a:rPr lang="en-US" sz="2400" dirty="0"/>
              <a:t> data from the </a:t>
            </a:r>
            <a:r>
              <a:rPr lang="en-US" sz="2400" b="1" dirty="0" err="1"/>
              <a:t>OpenWeatherMap</a:t>
            </a:r>
            <a:r>
              <a:rPr lang="en-US" sz="2400" dirty="0"/>
              <a:t> API every thirty minutes and compares it with a threshold. If dust exceeds the limit, the backend commands a cleaning robot ESP32 through MQTT to clean the panel using a water spray pump and roller brush automatically.</a:t>
            </a:r>
          </a:p>
          <a:p>
            <a:pPr algn="just">
              <a:lnSpc>
                <a:spcPct val="150000"/>
              </a:lnSpc>
            </a:pPr>
            <a:r>
              <a:rPr lang="en-US" sz="2400" dirty="0"/>
              <a:t>	</a:t>
            </a:r>
          </a:p>
        </p:txBody>
      </p:sp>
    </p:spTree>
    <p:extLst>
      <p:ext uri="{BB962C8B-B14F-4D97-AF65-F5344CB8AC3E}">
        <p14:creationId xmlns:p14="http://schemas.microsoft.com/office/powerpoint/2010/main" val="41372985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0" y="16565"/>
            <a:ext cx="10111740" cy="379259"/>
          </a:xfrm>
        </p:spPr>
        <p:txBody>
          <a:bodyPr/>
          <a:lstStyle/>
          <a:p>
            <a:pPr algn="ctr"/>
            <a:r>
              <a:rPr lang="en-US" dirty="0"/>
              <a:t>LITERATURE SURVEY</a:t>
            </a:r>
            <a:endParaRPr lang="en-IN" dirty="0"/>
          </a:p>
        </p:txBody>
      </p:sp>
      <p:sp>
        <p:nvSpPr>
          <p:cNvPr id="3" name="Text Placeholder 2"/>
          <p:cNvSpPr>
            <a:spLocks noGrp="1"/>
          </p:cNvSpPr>
          <p:nvPr>
            <p:ph type="body" idx="1"/>
          </p:nvPr>
        </p:nvSpPr>
        <p:spPr>
          <a:xfrm>
            <a:off x="762000" y="1066800"/>
            <a:ext cx="13639165" cy="330860"/>
          </a:xfrm>
        </p:spPr>
        <p:txBody>
          <a:bodyPr/>
          <a:lstStyle/>
          <a:p>
            <a:r>
              <a:rPr lang="en-US" dirty="0"/>
              <a:t> </a:t>
            </a:r>
            <a:endParaRPr lang="en-IN" sz="2400" dirty="0"/>
          </a:p>
        </p:txBody>
      </p:sp>
      <p:graphicFrame>
        <p:nvGraphicFramePr>
          <p:cNvPr id="4" name="Table 3"/>
          <p:cNvGraphicFramePr>
            <a:graphicFrameLocks noGrp="1"/>
          </p:cNvGraphicFramePr>
          <p:nvPr>
            <p:extLst>
              <p:ext uri="{D42A27DB-BD31-4B8C-83A1-F6EECF244321}">
                <p14:modId xmlns:p14="http://schemas.microsoft.com/office/powerpoint/2010/main" val="3395087657"/>
              </p:ext>
            </p:extLst>
          </p:nvPr>
        </p:nvGraphicFramePr>
        <p:xfrm>
          <a:off x="304800" y="838200"/>
          <a:ext cx="14020800" cy="7132320"/>
        </p:xfrm>
        <a:graphic>
          <a:graphicData uri="http://schemas.openxmlformats.org/drawingml/2006/table">
            <a:tbl>
              <a:tblPr firstRow="1" bandRow="1">
                <a:tableStyleId>{5C22544A-7EE6-4342-B048-85BDC9FD1C3A}</a:tableStyleId>
              </a:tblPr>
              <a:tblGrid>
                <a:gridCol w="933953">
                  <a:extLst>
                    <a:ext uri="{9D8B030D-6E8A-4147-A177-3AD203B41FA5}">
                      <a16:colId xmlns:a16="http://schemas.microsoft.com/office/drawing/2014/main" val="20000"/>
                    </a:ext>
                  </a:extLst>
                </a:gridCol>
                <a:gridCol w="2307660">
                  <a:extLst>
                    <a:ext uri="{9D8B030D-6E8A-4147-A177-3AD203B41FA5}">
                      <a16:colId xmlns:a16="http://schemas.microsoft.com/office/drawing/2014/main" val="20001"/>
                    </a:ext>
                  </a:extLst>
                </a:gridCol>
                <a:gridCol w="2708272">
                  <a:extLst>
                    <a:ext uri="{9D8B030D-6E8A-4147-A177-3AD203B41FA5}">
                      <a16:colId xmlns:a16="http://schemas.microsoft.com/office/drawing/2014/main" val="20002"/>
                    </a:ext>
                  </a:extLst>
                </a:gridCol>
                <a:gridCol w="3130790">
                  <a:extLst>
                    <a:ext uri="{9D8B030D-6E8A-4147-A177-3AD203B41FA5}">
                      <a16:colId xmlns:a16="http://schemas.microsoft.com/office/drawing/2014/main" val="20003"/>
                    </a:ext>
                  </a:extLst>
                </a:gridCol>
                <a:gridCol w="4940125">
                  <a:extLst>
                    <a:ext uri="{9D8B030D-6E8A-4147-A177-3AD203B41FA5}">
                      <a16:colId xmlns:a16="http://schemas.microsoft.com/office/drawing/2014/main" val="20004"/>
                    </a:ext>
                  </a:extLst>
                </a:gridCol>
              </a:tblGrid>
              <a:tr h="457200">
                <a:tc>
                  <a:txBody>
                    <a:bodyPr/>
                    <a:lstStyle/>
                    <a:p>
                      <a:r>
                        <a:rPr lang="en-US" sz="1800" dirty="0" err="1"/>
                        <a:t>Sl.No</a:t>
                      </a:r>
                      <a:r>
                        <a:rPr lang="en-US" sz="1800" dirty="0"/>
                        <a:t>.</a:t>
                      </a:r>
                    </a:p>
                    <a:p>
                      <a:endParaRPr lang="en-IN" sz="1800" dirty="0"/>
                    </a:p>
                  </a:txBody>
                  <a:tcPr/>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US" sz="1800" dirty="0"/>
                        <a:t>Author and year</a:t>
                      </a:r>
                    </a:p>
                    <a:p>
                      <a:endParaRPr lang="en-IN" sz="1800" dirty="0"/>
                    </a:p>
                  </a:txBody>
                  <a:tcPr/>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US" sz="1800" dirty="0"/>
                        <a:t>Title</a:t>
                      </a:r>
                      <a:r>
                        <a:rPr lang="en-US" sz="1800" baseline="0" dirty="0"/>
                        <a:t> of the paper </a:t>
                      </a:r>
                      <a:endParaRPr lang="en-US" sz="1800" dirty="0"/>
                    </a:p>
                    <a:p>
                      <a:endParaRPr lang="en-IN" sz="1800" dirty="0"/>
                    </a:p>
                  </a:txBody>
                  <a:tcPr/>
                </a:tc>
                <a:tc>
                  <a:txBody>
                    <a:bodyPr/>
                    <a:lstStyle/>
                    <a:p>
                      <a:r>
                        <a:rPr lang="en-US" sz="1800" dirty="0"/>
                        <a:t>Citation</a:t>
                      </a:r>
                      <a:endParaRPr lang="en-IN" sz="1800" dirty="0"/>
                    </a:p>
                  </a:txBody>
                  <a:tcPr/>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US" sz="1800" dirty="0"/>
                        <a:t>Observation</a:t>
                      </a:r>
                    </a:p>
                    <a:p>
                      <a:endParaRPr lang="en-IN" sz="1800" dirty="0"/>
                    </a:p>
                  </a:txBody>
                  <a:tcPr/>
                </a:tc>
                <a:extLst>
                  <a:ext uri="{0D108BD9-81ED-4DB2-BD59-A6C34878D82A}">
                    <a16:rowId xmlns:a16="http://schemas.microsoft.com/office/drawing/2014/main" val="10000"/>
                  </a:ext>
                </a:extLst>
              </a:tr>
              <a:tr h="2625606">
                <a:tc>
                  <a:txBody>
                    <a:bodyPr/>
                    <a:lstStyle/>
                    <a:p>
                      <a:pPr marL="0" indent="0">
                        <a:buFontTx/>
                        <a:buNone/>
                      </a:pPr>
                      <a:r>
                        <a:rPr lang="en-US" sz="1800" dirty="0"/>
                        <a:t>1</a:t>
                      </a:r>
                      <a:endParaRPr lang="en-IN" sz="1800" dirty="0"/>
                    </a:p>
                  </a:txBody>
                  <a:tcPr/>
                </a:tc>
                <a:tc>
                  <a:txBody>
                    <a:bodyPr/>
                    <a:lstStyle/>
                    <a:p>
                      <a:r>
                        <a:rPr lang="en-IN" sz="1800" dirty="0"/>
                        <a:t>M. R. Habib et al., </a:t>
                      </a:r>
                      <a:endParaRPr lang="en-US" sz="1800" dirty="0">
                        <a:latin typeface="Times New Roman" panose="02020603050405020304" pitchFamily="18" charset="0"/>
                        <a:cs typeface="Times New Roman" panose="02020603050405020304" pitchFamily="18" charset="0"/>
                      </a:endParaRPr>
                    </a:p>
                    <a:p>
                      <a:pPr marL="0" marR="0" indent="0" defTabSz="914400" eaLnBrk="1" fontAlgn="auto" latinLnBrk="0" hangingPunct="1">
                        <a:lnSpc>
                          <a:spcPct val="100000"/>
                        </a:lnSpc>
                        <a:spcBef>
                          <a:spcPts val="0"/>
                        </a:spcBef>
                        <a:spcAft>
                          <a:spcPts val="0"/>
                        </a:spcAft>
                        <a:buClrTx/>
                        <a:buSzTx/>
                        <a:buFontTx/>
                        <a:buNone/>
                        <a:tabLst/>
                        <a:defRPr/>
                      </a:pPr>
                      <a:r>
                        <a:rPr lang="en-IN" sz="1800" dirty="0"/>
                        <a:t>202</a:t>
                      </a:r>
                      <a:r>
                        <a:rPr lang="en-IN" sz="1800" dirty="0">
                          <a:latin typeface="Times New Roman" panose="02020603050405020304" pitchFamily="18" charset="0"/>
                          <a:cs typeface="Times New Roman" panose="02020603050405020304" pitchFamily="18" charset="0"/>
                        </a:rPr>
                        <a:t>1</a:t>
                      </a:r>
                      <a:endParaRPr lang="en-IN" sz="1800" dirty="0"/>
                    </a:p>
                  </a:txBody>
                  <a:tcPr/>
                </a:tc>
                <a:tc>
                  <a:txBody>
                    <a:bodyPr/>
                    <a:lstStyle/>
                    <a:p>
                      <a:r>
                        <a:rPr lang="en-US" sz="1800" b="0" i="0" dirty="0">
                          <a:solidFill>
                            <a:schemeClr val="dk1"/>
                          </a:solidFill>
                          <a:effectLst/>
                          <a:latin typeface="+mn-lt"/>
                          <a:ea typeface="+mn-ea"/>
                          <a:cs typeface="+mn-cs"/>
                        </a:rPr>
                        <a:t>Automatic Solar Panel Cleaning System Based on Arduino for Dust Removal</a:t>
                      </a:r>
                    </a:p>
                    <a:p>
                      <a:endParaRPr lang="en-US" sz="1800" dirty="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a:txBody>
                  <a:tcPr/>
                </a:tc>
                <a:tc>
                  <a:txBody>
                    <a:bodyPr/>
                    <a:lstStyle/>
                    <a:p>
                      <a:r>
                        <a:rPr lang="en-IN" sz="1800" dirty="0"/>
                        <a:t>M. R. Habib et al., "Automatic Solar Panel Cleaning System Based on Arduino for Dust Removal," 2021 International Conference on Artificial Intelligence and Smart Systems (ICAIS), Coimbatore, India, 2021, pp. 1555-1558, </a:t>
                      </a:r>
                      <a:r>
                        <a:rPr lang="en-IN" sz="1800" dirty="0" err="1"/>
                        <a:t>doi</a:t>
                      </a:r>
                      <a:r>
                        <a:rPr lang="en-IN" sz="1800" dirty="0"/>
                        <a:t>: 10.1109/ICAIS50930.2021.9395937. </a:t>
                      </a:r>
                    </a:p>
                    <a:p>
                      <a:endParaRPr lang="en-IN" sz="1800" dirty="0"/>
                    </a:p>
                  </a:txBody>
                  <a:tcPr/>
                </a:tc>
                <a:tc>
                  <a:txBody>
                    <a:bodyPr/>
                    <a:lstStyle/>
                    <a:p>
                      <a:pPr marL="285750" indent="-285750">
                        <a:buFont typeface="Arial" panose="020B0604020202020204" pitchFamily="34" charset="0"/>
                        <a:buChar char="•"/>
                      </a:pPr>
                      <a:r>
                        <a:rPr lang="en-US" sz="1800" b="0" dirty="0"/>
                        <a:t>The waterless cleaning mechanism (air blower + wiper) effectively removes dust, making it suitable for water-scarce or desert regions. </a:t>
                      </a:r>
                    </a:p>
                    <a:p>
                      <a:pPr marL="285750" indent="-285750">
                        <a:buFont typeface="Arial" panose="020B0604020202020204" pitchFamily="34" charset="0"/>
                        <a:buChar char="•"/>
                      </a:pPr>
                      <a:r>
                        <a:rPr lang="en-US" sz="1800" b="0" dirty="0"/>
                        <a:t>The system is automatic and low-cost, using simple components like an Arduino and DC motor, making it practical for real-world use.</a:t>
                      </a:r>
                      <a:endParaRPr lang="en-IN" sz="1800" b="0" dirty="0"/>
                    </a:p>
                  </a:txBody>
                  <a:tcPr/>
                </a:tc>
                <a:extLst>
                  <a:ext uri="{0D108BD9-81ED-4DB2-BD59-A6C34878D82A}">
                    <a16:rowId xmlns:a16="http://schemas.microsoft.com/office/drawing/2014/main" val="10001"/>
                  </a:ext>
                </a:extLst>
              </a:tr>
              <a:tr h="3013193">
                <a:tc>
                  <a:txBody>
                    <a:bodyPr/>
                    <a:lstStyle/>
                    <a:p>
                      <a:r>
                        <a:rPr lang="en-US" sz="1800" dirty="0"/>
                        <a:t>2</a:t>
                      </a:r>
                      <a:endParaRPr lang="en-IN" sz="1800" dirty="0"/>
                    </a:p>
                  </a:txBody>
                  <a:tcPr/>
                </a:tc>
                <a:tc>
                  <a:txBody>
                    <a:bodyPr/>
                    <a:lstStyle/>
                    <a:p>
                      <a:r>
                        <a:rPr lang="en-IN" sz="1800" b="0" i="0" dirty="0">
                          <a:solidFill>
                            <a:schemeClr val="dk1"/>
                          </a:solidFill>
                          <a:effectLst/>
                          <a:latin typeface="+mn-lt"/>
                          <a:ea typeface="+mn-ea"/>
                          <a:cs typeface="+mn-cs"/>
                        </a:rPr>
                        <a:t>S. </a:t>
                      </a:r>
                      <a:r>
                        <a:rPr lang="en-IN" sz="1800" b="0" i="0" dirty="0" err="1">
                          <a:solidFill>
                            <a:schemeClr val="dk1"/>
                          </a:solidFill>
                          <a:effectLst/>
                          <a:latin typeface="+mn-lt"/>
                          <a:ea typeface="+mn-ea"/>
                          <a:cs typeface="+mn-cs"/>
                        </a:rPr>
                        <a:t>Gochhait</a:t>
                      </a:r>
                      <a:r>
                        <a:rPr lang="en-IN" sz="1800" b="0" i="0" dirty="0">
                          <a:solidFill>
                            <a:schemeClr val="dk1"/>
                          </a:solidFill>
                          <a:effectLst/>
                          <a:latin typeface="+mn-lt"/>
                          <a:ea typeface="+mn-ea"/>
                          <a:cs typeface="+mn-cs"/>
                        </a:rPr>
                        <a:t>, R. </a:t>
                      </a:r>
                      <a:r>
                        <a:rPr lang="en-IN" sz="1800" b="0" i="0" dirty="0" err="1">
                          <a:solidFill>
                            <a:schemeClr val="dk1"/>
                          </a:solidFill>
                          <a:effectLst/>
                          <a:latin typeface="+mn-lt"/>
                          <a:ea typeface="+mn-ea"/>
                          <a:cs typeface="+mn-cs"/>
                        </a:rPr>
                        <a:t>Asodiya</a:t>
                      </a:r>
                      <a:r>
                        <a:rPr lang="en-IN" sz="1800" b="0" i="0" dirty="0">
                          <a:solidFill>
                            <a:schemeClr val="dk1"/>
                          </a:solidFill>
                          <a:effectLst/>
                          <a:latin typeface="+mn-lt"/>
                          <a:ea typeface="+mn-ea"/>
                          <a:cs typeface="+mn-cs"/>
                        </a:rPr>
                        <a:t>, T. </a:t>
                      </a:r>
                      <a:r>
                        <a:rPr lang="en-IN" sz="1800" b="0" i="0" dirty="0" err="1">
                          <a:solidFill>
                            <a:schemeClr val="dk1"/>
                          </a:solidFill>
                          <a:effectLst/>
                          <a:latin typeface="+mn-lt"/>
                          <a:ea typeface="+mn-ea"/>
                          <a:cs typeface="+mn-cs"/>
                        </a:rPr>
                        <a:t>Hasarmani</a:t>
                      </a:r>
                      <a:r>
                        <a:rPr lang="en-IN" sz="1800" b="0" i="0" dirty="0">
                          <a:solidFill>
                            <a:schemeClr val="dk1"/>
                          </a:solidFill>
                          <a:effectLst/>
                          <a:latin typeface="+mn-lt"/>
                          <a:ea typeface="+mn-ea"/>
                          <a:cs typeface="+mn-cs"/>
                        </a:rPr>
                        <a:t>, V. </a:t>
                      </a:r>
                      <a:r>
                        <a:rPr lang="en-IN" sz="1800" b="0" i="0" dirty="0" err="1">
                          <a:solidFill>
                            <a:schemeClr val="dk1"/>
                          </a:solidFill>
                          <a:effectLst/>
                          <a:latin typeface="+mn-lt"/>
                          <a:ea typeface="+mn-ea"/>
                          <a:cs typeface="+mn-cs"/>
                        </a:rPr>
                        <a:t>Patin</a:t>
                      </a:r>
                      <a:r>
                        <a:rPr lang="en-IN" sz="1800" b="0" i="0" dirty="0">
                          <a:solidFill>
                            <a:schemeClr val="dk1"/>
                          </a:solidFill>
                          <a:effectLst/>
                          <a:latin typeface="+mn-lt"/>
                          <a:ea typeface="+mn-ea"/>
                          <a:cs typeface="+mn-cs"/>
                        </a:rPr>
                        <a:t> and O. </a:t>
                      </a:r>
                      <a:r>
                        <a:rPr lang="en-IN" sz="1800" b="0" i="0" dirty="0" err="1">
                          <a:solidFill>
                            <a:schemeClr val="dk1"/>
                          </a:solidFill>
                          <a:effectLst/>
                          <a:latin typeface="+mn-lt"/>
                          <a:ea typeface="+mn-ea"/>
                          <a:cs typeface="+mn-cs"/>
                        </a:rPr>
                        <a:t>Maslova</a:t>
                      </a:r>
                      <a:endParaRPr lang="en-US" sz="1800" dirty="0">
                        <a:latin typeface="Times New Roman" panose="02020603050405020304" pitchFamily="18" charset="0"/>
                        <a:cs typeface="Times New Roman" panose="02020603050405020304" pitchFamily="18" charset="0"/>
                      </a:endParaRPr>
                    </a:p>
                    <a:p>
                      <a:r>
                        <a:rPr lang="en-US" sz="1800" dirty="0">
                          <a:latin typeface="Times New Roman" panose="02020603050405020304" pitchFamily="18" charset="0"/>
                          <a:cs typeface="Times New Roman" panose="02020603050405020304" pitchFamily="18" charset="0"/>
                        </a:rPr>
                        <a:t>2022</a:t>
                      </a:r>
                      <a:endParaRPr lang="en-IN" sz="1800" dirty="0">
                        <a:latin typeface="Times New Roman" panose="02020603050405020304" pitchFamily="18" charset="0"/>
                        <a:cs typeface="Times New Roman" panose="02020603050405020304" pitchFamily="18" charset="0"/>
                      </a:endParaRPr>
                    </a:p>
                  </a:txBody>
                  <a:tcPr/>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US" sz="1800" b="0" i="0" dirty="0">
                          <a:solidFill>
                            <a:schemeClr val="dk1"/>
                          </a:solidFill>
                          <a:effectLst/>
                          <a:latin typeface="+mn-lt"/>
                          <a:ea typeface="+mn-ea"/>
                          <a:cs typeface="+mn-cs"/>
                        </a:rPr>
                        <a:t>Application of </a:t>
                      </a:r>
                      <a:r>
                        <a:rPr lang="en-US" sz="1800" b="0" i="0" dirty="0" err="1">
                          <a:solidFill>
                            <a:schemeClr val="dk1"/>
                          </a:solidFill>
                          <a:effectLst/>
                          <a:latin typeface="+mn-lt"/>
                          <a:ea typeface="+mn-ea"/>
                          <a:cs typeface="+mn-cs"/>
                        </a:rPr>
                        <a:t>IoT</a:t>
                      </a:r>
                      <a:r>
                        <a:rPr lang="en-US" sz="1800" b="0" i="0" dirty="0">
                          <a:solidFill>
                            <a:schemeClr val="dk1"/>
                          </a:solidFill>
                          <a:effectLst/>
                          <a:latin typeface="+mn-lt"/>
                          <a:ea typeface="+mn-ea"/>
                          <a:cs typeface="+mn-cs"/>
                        </a:rPr>
                        <a:t>: A Study on Automated Solar Panel Cleaning System</a:t>
                      </a:r>
                    </a:p>
                    <a:p>
                      <a:endParaRPr lang="en-IN" sz="1800" dirty="0">
                        <a:latin typeface="Times New Roman" panose="02020603050405020304" pitchFamily="18" charset="0"/>
                        <a:cs typeface="Times New Roman" panose="02020603050405020304" pitchFamily="18" charset="0"/>
                      </a:endParaRPr>
                    </a:p>
                  </a:txBody>
                  <a:tcPr/>
                </a:tc>
                <a:tc>
                  <a:txBody>
                    <a:bodyPr/>
                    <a:lstStyle/>
                    <a:p>
                      <a:r>
                        <a:rPr lang="en-IN" sz="1800" b="0" i="0" dirty="0">
                          <a:solidFill>
                            <a:schemeClr val="dk1"/>
                          </a:solidFill>
                          <a:effectLst/>
                          <a:latin typeface="+mn-lt"/>
                          <a:ea typeface="+mn-ea"/>
                          <a:cs typeface="+mn-cs"/>
                        </a:rPr>
                        <a:t>S. </a:t>
                      </a:r>
                      <a:r>
                        <a:rPr lang="en-IN" sz="1800" b="0" i="0" dirty="0" err="1">
                          <a:solidFill>
                            <a:schemeClr val="dk1"/>
                          </a:solidFill>
                          <a:effectLst/>
                          <a:latin typeface="+mn-lt"/>
                          <a:ea typeface="+mn-ea"/>
                          <a:cs typeface="+mn-cs"/>
                        </a:rPr>
                        <a:t>Gochhait</a:t>
                      </a:r>
                      <a:r>
                        <a:rPr lang="en-IN" sz="1800" b="0" i="0" dirty="0">
                          <a:solidFill>
                            <a:schemeClr val="dk1"/>
                          </a:solidFill>
                          <a:effectLst/>
                          <a:latin typeface="+mn-lt"/>
                          <a:ea typeface="+mn-ea"/>
                          <a:cs typeface="+mn-cs"/>
                        </a:rPr>
                        <a:t>, R. </a:t>
                      </a:r>
                      <a:r>
                        <a:rPr lang="en-IN" sz="1800" b="0" i="0" dirty="0" err="1">
                          <a:solidFill>
                            <a:schemeClr val="dk1"/>
                          </a:solidFill>
                          <a:effectLst/>
                          <a:latin typeface="+mn-lt"/>
                          <a:ea typeface="+mn-ea"/>
                          <a:cs typeface="+mn-cs"/>
                        </a:rPr>
                        <a:t>Asodiya</a:t>
                      </a:r>
                      <a:r>
                        <a:rPr lang="en-IN" sz="1800" b="0" i="0" dirty="0">
                          <a:solidFill>
                            <a:schemeClr val="dk1"/>
                          </a:solidFill>
                          <a:effectLst/>
                          <a:latin typeface="+mn-lt"/>
                          <a:ea typeface="+mn-ea"/>
                          <a:cs typeface="+mn-cs"/>
                        </a:rPr>
                        <a:t>, T. </a:t>
                      </a:r>
                      <a:r>
                        <a:rPr lang="en-IN" sz="1800" b="0" i="0" dirty="0" err="1">
                          <a:solidFill>
                            <a:schemeClr val="dk1"/>
                          </a:solidFill>
                          <a:effectLst/>
                          <a:latin typeface="+mn-lt"/>
                          <a:ea typeface="+mn-ea"/>
                          <a:cs typeface="+mn-cs"/>
                        </a:rPr>
                        <a:t>Hasarmani</a:t>
                      </a:r>
                      <a:r>
                        <a:rPr lang="en-IN" sz="1800" b="0" i="0" dirty="0">
                          <a:solidFill>
                            <a:schemeClr val="dk1"/>
                          </a:solidFill>
                          <a:effectLst/>
                          <a:latin typeface="+mn-lt"/>
                          <a:ea typeface="+mn-ea"/>
                          <a:cs typeface="+mn-cs"/>
                        </a:rPr>
                        <a:t>, V. </a:t>
                      </a:r>
                      <a:r>
                        <a:rPr lang="en-IN" sz="1800" b="0" i="0" dirty="0" err="1">
                          <a:solidFill>
                            <a:schemeClr val="dk1"/>
                          </a:solidFill>
                          <a:effectLst/>
                          <a:latin typeface="+mn-lt"/>
                          <a:ea typeface="+mn-ea"/>
                          <a:cs typeface="+mn-cs"/>
                        </a:rPr>
                        <a:t>Patin</a:t>
                      </a:r>
                      <a:r>
                        <a:rPr lang="en-IN" sz="1800" b="0" i="0" dirty="0">
                          <a:solidFill>
                            <a:schemeClr val="dk1"/>
                          </a:solidFill>
                          <a:effectLst/>
                          <a:latin typeface="+mn-lt"/>
                          <a:ea typeface="+mn-ea"/>
                          <a:cs typeface="+mn-cs"/>
                        </a:rPr>
                        <a:t> and O. </a:t>
                      </a:r>
                      <a:r>
                        <a:rPr lang="en-IN" sz="1800" b="0" i="0" dirty="0" err="1">
                          <a:solidFill>
                            <a:schemeClr val="dk1"/>
                          </a:solidFill>
                          <a:effectLst/>
                          <a:latin typeface="+mn-lt"/>
                          <a:ea typeface="+mn-ea"/>
                          <a:cs typeface="+mn-cs"/>
                        </a:rPr>
                        <a:t>Maslova</a:t>
                      </a:r>
                      <a:r>
                        <a:rPr lang="en-IN" sz="1800" b="0" i="0" dirty="0">
                          <a:solidFill>
                            <a:schemeClr val="dk1"/>
                          </a:solidFill>
                          <a:effectLst/>
                          <a:latin typeface="+mn-lt"/>
                          <a:ea typeface="+mn-ea"/>
                          <a:cs typeface="+mn-cs"/>
                        </a:rPr>
                        <a:t>, "Application of </a:t>
                      </a:r>
                      <a:r>
                        <a:rPr lang="en-IN" sz="1800" b="0" i="0" dirty="0" err="1">
                          <a:solidFill>
                            <a:schemeClr val="dk1"/>
                          </a:solidFill>
                          <a:effectLst/>
                          <a:latin typeface="+mn-lt"/>
                          <a:ea typeface="+mn-ea"/>
                          <a:cs typeface="+mn-cs"/>
                        </a:rPr>
                        <a:t>IoT</a:t>
                      </a:r>
                      <a:r>
                        <a:rPr lang="en-IN" sz="1800" b="0" i="0" dirty="0">
                          <a:solidFill>
                            <a:schemeClr val="dk1"/>
                          </a:solidFill>
                          <a:effectLst/>
                          <a:latin typeface="+mn-lt"/>
                          <a:ea typeface="+mn-ea"/>
                          <a:cs typeface="+mn-cs"/>
                        </a:rPr>
                        <a:t>: A Study on Automated Solar Panel Cleaning System," </a:t>
                      </a:r>
                      <a:r>
                        <a:rPr lang="en-IN" sz="1800" b="0" i="1" dirty="0">
                          <a:solidFill>
                            <a:schemeClr val="dk1"/>
                          </a:solidFill>
                          <a:effectLst/>
                          <a:latin typeface="+mn-lt"/>
                          <a:ea typeface="+mn-ea"/>
                          <a:cs typeface="+mn-cs"/>
                        </a:rPr>
                        <a:t>2022 4th International Conference on Electrical, Control and Instrumentation Engineering (ICECIE)</a:t>
                      </a:r>
                      <a:r>
                        <a:rPr lang="en-IN" sz="1800" b="0" i="0" dirty="0">
                          <a:solidFill>
                            <a:schemeClr val="dk1"/>
                          </a:solidFill>
                          <a:effectLst/>
                          <a:latin typeface="+mn-lt"/>
                          <a:ea typeface="+mn-ea"/>
                          <a:cs typeface="+mn-cs"/>
                        </a:rPr>
                        <a:t>, </a:t>
                      </a:r>
                      <a:r>
                        <a:rPr lang="en-IN" sz="1800" b="0" i="0" dirty="0" err="1">
                          <a:solidFill>
                            <a:schemeClr val="dk1"/>
                          </a:solidFill>
                          <a:effectLst/>
                          <a:latin typeface="+mn-lt"/>
                          <a:ea typeface="+mn-ea"/>
                          <a:cs typeface="+mn-cs"/>
                        </a:rPr>
                        <a:t>KualaLumpur</a:t>
                      </a:r>
                      <a:r>
                        <a:rPr lang="en-IN" sz="1800" b="0" i="0" dirty="0">
                          <a:solidFill>
                            <a:schemeClr val="dk1"/>
                          </a:solidFill>
                          <a:effectLst/>
                          <a:latin typeface="+mn-lt"/>
                          <a:ea typeface="+mn-ea"/>
                          <a:cs typeface="+mn-cs"/>
                        </a:rPr>
                        <a:t>, Malaysia, 2022, pp. 1-4, </a:t>
                      </a:r>
                      <a:r>
                        <a:rPr lang="en-IN" sz="1800" b="0" i="0" dirty="0" err="1">
                          <a:solidFill>
                            <a:schemeClr val="dk1"/>
                          </a:solidFill>
                          <a:effectLst/>
                          <a:latin typeface="+mn-lt"/>
                          <a:ea typeface="+mn-ea"/>
                          <a:cs typeface="+mn-cs"/>
                        </a:rPr>
                        <a:t>doi</a:t>
                      </a:r>
                      <a:r>
                        <a:rPr lang="en-IN" sz="1800" b="0" i="0" dirty="0">
                          <a:solidFill>
                            <a:schemeClr val="dk1"/>
                          </a:solidFill>
                          <a:effectLst/>
                          <a:latin typeface="+mn-lt"/>
                          <a:ea typeface="+mn-ea"/>
                          <a:cs typeface="+mn-cs"/>
                        </a:rPr>
                        <a:t>: 10.1109/ICECIE55199.2022.10000375.</a:t>
                      </a:r>
                      <a:endParaRPr lang="en-IN" sz="1800" dirty="0"/>
                    </a:p>
                  </a:txBody>
                  <a:tcPr/>
                </a:tc>
                <a:tc>
                  <a:txBody>
                    <a:bodyPr/>
                    <a:lstStyle/>
                    <a:p>
                      <a:pPr marL="285750" indent="-285750">
                        <a:buFont typeface="Arial" panose="020B0604020202020204" pitchFamily="34" charset="0"/>
                        <a:buChar char="•"/>
                      </a:pPr>
                      <a:r>
                        <a:rPr lang="en-US" sz="1800" b="0" dirty="0"/>
                        <a:t>Manual cleaning is inefficient and costly, while automated systems reduce time, labor, and risk of panel damage. </a:t>
                      </a:r>
                    </a:p>
                    <a:p>
                      <a:pPr marL="285750" indent="-285750">
                        <a:buFont typeface="Arial" panose="020B0604020202020204" pitchFamily="34" charset="0"/>
                        <a:buChar char="•"/>
                      </a:pPr>
                      <a:r>
                        <a:rPr lang="en-US" sz="1800" b="0" dirty="0"/>
                        <a:t>Automated cleaning systems improve performance, offering up to ~32% efficiency boost and ~1.6–2.2% regular gains, while using less water and enabling smart monitoring through </a:t>
                      </a:r>
                      <a:r>
                        <a:rPr lang="en-US" sz="1800" b="0" dirty="0" err="1"/>
                        <a:t>IoT</a:t>
                      </a:r>
                      <a:r>
                        <a:rPr lang="en-US" sz="1800" b="0" dirty="0"/>
                        <a:t>. </a:t>
                      </a: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7683861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4263231017"/>
              </p:ext>
            </p:extLst>
          </p:nvPr>
        </p:nvGraphicFramePr>
        <p:xfrm>
          <a:off x="228600" y="228598"/>
          <a:ext cx="14173200" cy="7848601"/>
        </p:xfrm>
        <a:graphic>
          <a:graphicData uri="http://schemas.openxmlformats.org/drawingml/2006/table">
            <a:tbl>
              <a:tblPr firstRow="1" bandRow="1">
                <a:tableStyleId>{5C22544A-7EE6-4342-B048-85BDC9FD1C3A}</a:tableStyleId>
              </a:tblPr>
              <a:tblGrid>
                <a:gridCol w="885824">
                  <a:extLst>
                    <a:ext uri="{9D8B030D-6E8A-4147-A177-3AD203B41FA5}">
                      <a16:colId xmlns:a16="http://schemas.microsoft.com/office/drawing/2014/main" val="20000"/>
                    </a:ext>
                  </a:extLst>
                </a:gridCol>
                <a:gridCol w="2979594">
                  <a:extLst>
                    <a:ext uri="{9D8B030D-6E8A-4147-A177-3AD203B41FA5}">
                      <a16:colId xmlns:a16="http://schemas.microsoft.com/office/drawing/2014/main" val="20001"/>
                    </a:ext>
                  </a:extLst>
                </a:gridCol>
                <a:gridCol w="2576946">
                  <a:extLst>
                    <a:ext uri="{9D8B030D-6E8A-4147-A177-3AD203B41FA5}">
                      <a16:colId xmlns:a16="http://schemas.microsoft.com/office/drawing/2014/main" val="20002"/>
                    </a:ext>
                  </a:extLst>
                </a:gridCol>
                <a:gridCol w="2738004">
                  <a:extLst>
                    <a:ext uri="{9D8B030D-6E8A-4147-A177-3AD203B41FA5}">
                      <a16:colId xmlns:a16="http://schemas.microsoft.com/office/drawing/2014/main" val="20003"/>
                    </a:ext>
                  </a:extLst>
                </a:gridCol>
                <a:gridCol w="4992832">
                  <a:extLst>
                    <a:ext uri="{9D8B030D-6E8A-4147-A177-3AD203B41FA5}">
                      <a16:colId xmlns:a16="http://schemas.microsoft.com/office/drawing/2014/main" val="20004"/>
                    </a:ext>
                  </a:extLst>
                </a:gridCol>
              </a:tblGrid>
              <a:tr h="514865">
                <a:tc>
                  <a:txBody>
                    <a:bodyPr/>
                    <a:lstStyle/>
                    <a:p>
                      <a:r>
                        <a:rPr lang="en-US" sz="1800" dirty="0"/>
                        <a:t>SL.NO</a:t>
                      </a:r>
                      <a:endParaRPr lang="en-IN" sz="1800" dirty="0"/>
                    </a:p>
                  </a:txBody>
                  <a:tcPr/>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US" sz="1800" dirty="0"/>
                        <a:t>Author and year</a:t>
                      </a:r>
                    </a:p>
                  </a:txBody>
                  <a:tcPr/>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US" sz="1800" dirty="0"/>
                        <a:t>Title</a:t>
                      </a:r>
                      <a:r>
                        <a:rPr lang="en-US" sz="1800" baseline="0" dirty="0"/>
                        <a:t> of the paper </a:t>
                      </a:r>
                      <a:endParaRPr lang="en-US" sz="1800" dirty="0"/>
                    </a:p>
                  </a:txBody>
                  <a:tcPr/>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US" sz="1800" dirty="0"/>
                        <a:t>Citation</a:t>
                      </a:r>
                    </a:p>
                  </a:txBody>
                  <a:tcPr/>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US" sz="1800" dirty="0"/>
                        <a:t>Observation</a:t>
                      </a:r>
                    </a:p>
                  </a:txBody>
                  <a:tcPr/>
                </a:tc>
                <a:extLst>
                  <a:ext uri="{0D108BD9-81ED-4DB2-BD59-A6C34878D82A}">
                    <a16:rowId xmlns:a16="http://schemas.microsoft.com/office/drawing/2014/main" val="10000"/>
                  </a:ext>
                </a:extLst>
              </a:tr>
              <a:tr h="3391853">
                <a:tc>
                  <a:txBody>
                    <a:bodyPr/>
                    <a:lstStyle/>
                    <a:p>
                      <a:r>
                        <a:rPr lang="en-US" sz="1800" dirty="0"/>
                        <a:t>3</a:t>
                      </a:r>
                      <a:endParaRPr lang="en-IN" sz="1800" dirty="0"/>
                    </a:p>
                  </a:txBody>
                  <a:tcPr/>
                </a:tc>
                <a:tc>
                  <a:txBody>
                    <a:bodyPr/>
                    <a:lstStyle/>
                    <a:p>
                      <a:r>
                        <a:rPr lang="en-IN" sz="1800" b="0" i="0" dirty="0">
                          <a:solidFill>
                            <a:schemeClr val="dk1"/>
                          </a:solidFill>
                          <a:effectLst/>
                          <a:latin typeface="+mn-lt"/>
                          <a:ea typeface="+mn-ea"/>
                          <a:cs typeface="+mn-cs"/>
                        </a:rPr>
                        <a:t>M. </a:t>
                      </a:r>
                      <a:r>
                        <a:rPr lang="en-IN" sz="1800" b="0" i="0" dirty="0" err="1">
                          <a:solidFill>
                            <a:schemeClr val="dk1"/>
                          </a:solidFill>
                          <a:effectLst/>
                          <a:latin typeface="+mn-lt"/>
                          <a:ea typeface="+mn-ea"/>
                          <a:cs typeface="+mn-cs"/>
                        </a:rPr>
                        <a:t>Jboor</a:t>
                      </a:r>
                      <a:r>
                        <a:rPr lang="en-IN" sz="1800" b="0" i="0" dirty="0">
                          <a:solidFill>
                            <a:schemeClr val="dk1"/>
                          </a:solidFill>
                          <a:effectLst/>
                          <a:latin typeface="+mn-lt"/>
                          <a:ea typeface="+mn-ea"/>
                          <a:cs typeface="+mn-cs"/>
                        </a:rPr>
                        <a:t> </a:t>
                      </a:r>
                      <a:r>
                        <a:rPr lang="en-IN" sz="1800" b="0" i="1" dirty="0">
                          <a:solidFill>
                            <a:schemeClr val="dk1"/>
                          </a:solidFill>
                          <a:effectLst/>
                          <a:latin typeface="+mn-lt"/>
                          <a:ea typeface="+mn-ea"/>
                          <a:cs typeface="+mn-cs"/>
                        </a:rPr>
                        <a:t>et al</a:t>
                      </a:r>
                      <a:r>
                        <a:rPr lang="en-IN" sz="1800" b="0" i="0" dirty="0">
                          <a:solidFill>
                            <a:schemeClr val="dk1"/>
                          </a:solidFill>
                          <a:effectLst/>
                          <a:latin typeface="+mn-lt"/>
                          <a:ea typeface="+mn-ea"/>
                          <a:cs typeface="+mn-cs"/>
                        </a:rPr>
                        <a:t>., </a:t>
                      </a:r>
                    </a:p>
                    <a:p>
                      <a:r>
                        <a:rPr lang="en-US" sz="1800" b="0" i="0" dirty="0">
                          <a:solidFill>
                            <a:schemeClr val="dk1"/>
                          </a:solidFill>
                          <a:effectLst/>
                          <a:latin typeface="+mn-lt"/>
                          <a:ea typeface="+mn-ea"/>
                          <a:cs typeface="+mn-cs"/>
                        </a:rPr>
                        <a:t>2023</a:t>
                      </a:r>
                      <a:endParaRPr lang="en-IN" sz="1800" dirty="0"/>
                    </a:p>
                  </a:txBody>
                  <a:tcPr/>
                </a:tc>
                <a:tc>
                  <a:txBody>
                    <a:bodyPr/>
                    <a:lstStyle/>
                    <a:p>
                      <a:r>
                        <a:rPr lang="en-US" sz="1800" b="0" i="0" u="none" strike="noStrike" dirty="0">
                          <a:solidFill>
                            <a:schemeClr val="tx1"/>
                          </a:solidFill>
                          <a:effectLst/>
                          <a:latin typeface="+mn-lt"/>
                          <a:ea typeface="+mn-ea"/>
                          <a:cs typeface="+mn-cs"/>
                        </a:rPr>
                        <a:t>Automated Solar Panel </a:t>
                      </a:r>
                    </a:p>
                    <a:p>
                      <a:r>
                        <a:rPr lang="en-US" sz="1800" b="0" i="0" u="none" strike="noStrike" dirty="0">
                          <a:solidFill>
                            <a:schemeClr val="tx1"/>
                          </a:solidFill>
                          <a:effectLst/>
                          <a:latin typeface="+mn-lt"/>
                          <a:ea typeface="+mn-ea"/>
                          <a:cs typeface="+mn-cs"/>
                        </a:rPr>
                        <a:t>cleaning System</a:t>
                      </a:r>
                      <a:endParaRPr lang="en-US" sz="1800" b="0" i="0" dirty="0">
                        <a:solidFill>
                          <a:schemeClr val="tx1"/>
                        </a:solidFill>
                        <a:effectLst/>
                        <a:latin typeface="+mn-lt"/>
                        <a:ea typeface="+mn-ea"/>
                        <a:cs typeface="+mn-cs"/>
                      </a:endParaRPr>
                    </a:p>
                  </a:txBody>
                  <a:tcPr/>
                </a:tc>
                <a:tc>
                  <a:txBody>
                    <a:bodyPr/>
                    <a:lstStyle/>
                    <a:p>
                      <a:r>
                        <a:rPr lang="en-IN" sz="1800" b="0" i="0" dirty="0">
                          <a:solidFill>
                            <a:schemeClr val="dk1"/>
                          </a:solidFill>
                          <a:effectLst/>
                          <a:latin typeface="+mn-lt"/>
                          <a:ea typeface="+mn-ea"/>
                          <a:cs typeface="+mn-cs"/>
                        </a:rPr>
                        <a:t>M. </a:t>
                      </a:r>
                      <a:r>
                        <a:rPr lang="en-IN" sz="1800" b="0" i="0" dirty="0" err="1">
                          <a:solidFill>
                            <a:schemeClr val="dk1"/>
                          </a:solidFill>
                          <a:effectLst/>
                          <a:latin typeface="+mn-lt"/>
                          <a:ea typeface="+mn-ea"/>
                          <a:cs typeface="+mn-cs"/>
                        </a:rPr>
                        <a:t>Jboor</a:t>
                      </a:r>
                      <a:r>
                        <a:rPr lang="en-IN" sz="1800" b="0" i="0" dirty="0">
                          <a:solidFill>
                            <a:schemeClr val="dk1"/>
                          </a:solidFill>
                          <a:effectLst/>
                          <a:latin typeface="+mn-lt"/>
                          <a:ea typeface="+mn-ea"/>
                          <a:cs typeface="+mn-cs"/>
                        </a:rPr>
                        <a:t> </a:t>
                      </a:r>
                      <a:r>
                        <a:rPr lang="en-IN" sz="1800" b="0" i="1" dirty="0">
                          <a:solidFill>
                            <a:schemeClr val="dk1"/>
                          </a:solidFill>
                          <a:effectLst/>
                          <a:latin typeface="+mn-lt"/>
                          <a:ea typeface="+mn-ea"/>
                          <a:cs typeface="+mn-cs"/>
                        </a:rPr>
                        <a:t>et al</a:t>
                      </a:r>
                      <a:r>
                        <a:rPr lang="en-IN" sz="1800" b="0" i="0" dirty="0">
                          <a:solidFill>
                            <a:schemeClr val="dk1"/>
                          </a:solidFill>
                          <a:effectLst/>
                          <a:latin typeface="+mn-lt"/>
                          <a:ea typeface="+mn-ea"/>
                          <a:cs typeface="+mn-cs"/>
                        </a:rPr>
                        <a:t>., "Automated Solar Panel Cleaning System," </a:t>
                      </a:r>
                      <a:r>
                        <a:rPr lang="en-IN" sz="1800" b="0" i="1" dirty="0">
                          <a:solidFill>
                            <a:schemeClr val="dk1"/>
                          </a:solidFill>
                          <a:effectLst/>
                          <a:latin typeface="+mn-lt"/>
                          <a:ea typeface="+mn-ea"/>
                          <a:cs typeface="+mn-cs"/>
                        </a:rPr>
                        <a:t>2023 2nd International Engineering Conference on Electrical, Energy, and Artificial Intelligence (EICEEAI)</a:t>
                      </a:r>
                      <a:r>
                        <a:rPr lang="en-IN" sz="1800" b="0" i="0" dirty="0">
                          <a:solidFill>
                            <a:schemeClr val="dk1"/>
                          </a:solidFill>
                          <a:effectLst/>
                          <a:latin typeface="+mn-lt"/>
                          <a:ea typeface="+mn-ea"/>
                          <a:cs typeface="+mn-cs"/>
                        </a:rPr>
                        <a:t>, </a:t>
                      </a:r>
                      <a:r>
                        <a:rPr lang="en-IN" sz="1800" b="0" i="0" dirty="0" err="1">
                          <a:solidFill>
                            <a:schemeClr val="dk1"/>
                          </a:solidFill>
                          <a:effectLst/>
                          <a:latin typeface="+mn-lt"/>
                          <a:ea typeface="+mn-ea"/>
                          <a:cs typeface="+mn-cs"/>
                        </a:rPr>
                        <a:t>Zarqa</a:t>
                      </a:r>
                      <a:r>
                        <a:rPr lang="en-IN" sz="1800" b="0" i="0" dirty="0">
                          <a:solidFill>
                            <a:schemeClr val="dk1"/>
                          </a:solidFill>
                          <a:effectLst/>
                          <a:latin typeface="+mn-lt"/>
                          <a:ea typeface="+mn-ea"/>
                          <a:cs typeface="+mn-cs"/>
                        </a:rPr>
                        <a:t>, Jordan, 2023, pp. 1-5, </a:t>
                      </a:r>
                      <a:r>
                        <a:rPr lang="en-IN" sz="1800" b="0" i="0" dirty="0" err="1">
                          <a:solidFill>
                            <a:schemeClr val="dk1"/>
                          </a:solidFill>
                          <a:effectLst/>
                          <a:latin typeface="+mn-lt"/>
                          <a:ea typeface="+mn-ea"/>
                          <a:cs typeface="+mn-cs"/>
                        </a:rPr>
                        <a:t>doi</a:t>
                      </a:r>
                      <a:r>
                        <a:rPr lang="en-IN" sz="1800" b="0" i="0" dirty="0">
                          <a:solidFill>
                            <a:schemeClr val="dk1"/>
                          </a:solidFill>
                          <a:effectLst/>
                          <a:latin typeface="+mn-lt"/>
                          <a:ea typeface="+mn-ea"/>
                          <a:cs typeface="+mn-cs"/>
                        </a:rPr>
                        <a:t>: 10.1109/EICEEAI60672.2023.10590137.</a:t>
                      </a:r>
                      <a:endParaRPr lang="en-US" sz="1800" dirty="0"/>
                    </a:p>
                    <a:p>
                      <a:endParaRPr lang="en-IN" sz="1800" dirty="0"/>
                    </a:p>
                  </a:txBody>
                  <a:tcPr/>
                </a:tc>
                <a:tc>
                  <a:txBody>
                    <a:bodyPr/>
                    <a:lstStyle/>
                    <a:p>
                      <a:pPr marL="285750" marR="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dirty="0"/>
                        <a:t>The proposed system uses a water-based roller brush with automated motion, controlled by Arduino and components like limit switches and relays, eliminating manual effort.</a:t>
                      </a:r>
                    </a:p>
                    <a:p>
                      <a:pPr marL="285750" marR="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800" b="0" dirty="0"/>
                        <a:t>Performance improves after cleaning, as shown by increased electrical parameters (power, voltage, current), proving that automated cleaning enhances overall efficiency</a:t>
                      </a:r>
                      <a:endParaRPr lang="en-IN" sz="1800" b="0" dirty="0"/>
                    </a:p>
                  </a:txBody>
                  <a:tcPr/>
                </a:tc>
                <a:extLst>
                  <a:ext uri="{0D108BD9-81ED-4DB2-BD59-A6C34878D82A}">
                    <a16:rowId xmlns:a16="http://schemas.microsoft.com/office/drawing/2014/main" val="10001"/>
                  </a:ext>
                </a:extLst>
              </a:tr>
              <a:tr h="3941883">
                <a:tc>
                  <a:txBody>
                    <a:bodyPr/>
                    <a:lstStyle/>
                    <a:p>
                      <a:r>
                        <a:rPr lang="en-US" sz="1800" dirty="0"/>
                        <a:t>4</a:t>
                      </a:r>
                      <a:endParaRPr lang="en-IN" sz="1800" dirty="0"/>
                    </a:p>
                  </a:txBody>
                  <a:tcPr/>
                </a:tc>
                <a:tc>
                  <a:txBody>
                    <a:bodyPr/>
                    <a:lstStyle/>
                    <a:p>
                      <a:r>
                        <a:rPr lang="en-IN" sz="1800" b="0" i="0" dirty="0">
                          <a:solidFill>
                            <a:schemeClr val="dk1"/>
                          </a:solidFill>
                          <a:effectLst/>
                          <a:latin typeface="+mn-lt"/>
                          <a:ea typeface="+mn-ea"/>
                          <a:cs typeface="+mn-cs"/>
                        </a:rPr>
                        <a:t>N. </a:t>
                      </a:r>
                      <a:r>
                        <a:rPr lang="en-IN" sz="1800" b="0" i="0" dirty="0" err="1">
                          <a:solidFill>
                            <a:schemeClr val="dk1"/>
                          </a:solidFill>
                          <a:effectLst/>
                          <a:latin typeface="+mn-lt"/>
                          <a:ea typeface="+mn-ea"/>
                          <a:cs typeface="+mn-cs"/>
                        </a:rPr>
                        <a:t>Prastomo</a:t>
                      </a:r>
                      <a:r>
                        <a:rPr lang="en-IN" sz="1800" b="0" i="0" dirty="0">
                          <a:solidFill>
                            <a:schemeClr val="dk1"/>
                          </a:solidFill>
                          <a:effectLst/>
                          <a:latin typeface="+mn-lt"/>
                          <a:ea typeface="+mn-ea"/>
                          <a:cs typeface="+mn-cs"/>
                        </a:rPr>
                        <a:t>, Ryan and W. </a:t>
                      </a:r>
                      <a:r>
                        <a:rPr lang="en-IN" sz="1800" b="0" i="0" dirty="0" err="1">
                          <a:solidFill>
                            <a:schemeClr val="dk1"/>
                          </a:solidFill>
                          <a:effectLst/>
                          <a:latin typeface="+mn-lt"/>
                          <a:ea typeface="+mn-ea"/>
                          <a:cs typeface="+mn-cs"/>
                        </a:rPr>
                        <a:t>Budiman</a:t>
                      </a:r>
                      <a:endParaRPr lang="en-IN" sz="1800" b="0" i="0" dirty="0">
                        <a:solidFill>
                          <a:schemeClr val="dk1"/>
                        </a:solidFill>
                        <a:effectLst/>
                        <a:latin typeface="+mn-lt"/>
                        <a:ea typeface="+mn-ea"/>
                        <a:cs typeface="+mn-cs"/>
                      </a:endParaRPr>
                    </a:p>
                    <a:p>
                      <a:r>
                        <a:rPr lang="en-US" sz="1800" b="0" i="0" dirty="0">
                          <a:solidFill>
                            <a:schemeClr val="dk1"/>
                          </a:solidFill>
                          <a:effectLst/>
                          <a:latin typeface="+mn-lt"/>
                          <a:ea typeface="+mn-ea"/>
                          <a:cs typeface="+mn-cs"/>
                        </a:rPr>
                        <a:t>2023</a:t>
                      </a:r>
                      <a:endParaRPr lang="en-IN" sz="1800" dirty="0">
                        <a:latin typeface="Times New Roman" panose="02020603050405020304" pitchFamily="18" charset="0"/>
                        <a:cs typeface="Times New Roman" panose="02020603050405020304" pitchFamily="18" charset="0"/>
                      </a:endParaRPr>
                    </a:p>
                  </a:txBody>
                  <a:tcPr/>
                </a:tc>
                <a:tc>
                  <a:txBody>
                    <a:bodyPr/>
                    <a:lstStyle/>
                    <a:p>
                      <a:r>
                        <a:rPr lang="en-US" sz="1800" b="0" i="0" dirty="0">
                          <a:solidFill>
                            <a:schemeClr val="tx1"/>
                          </a:solidFill>
                          <a:effectLst/>
                          <a:latin typeface="+mn-lt"/>
                          <a:ea typeface="+mn-ea"/>
                          <a:cs typeface="+mn-cs"/>
                        </a:rPr>
                        <a:t>Automatic Dust</a:t>
                      </a:r>
                      <a:r>
                        <a:rPr lang="en-US" sz="1800" b="0" i="0" baseline="0" dirty="0">
                          <a:solidFill>
                            <a:schemeClr val="tx1"/>
                          </a:solidFill>
                          <a:effectLst/>
                          <a:latin typeface="+mn-lt"/>
                          <a:ea typeface="+mn-ea"/>
                          <a:cs typeface="+mn-cs"/>
                        </a:rPr>
                        <a:t> Cleaning system with wiper and sprinkler for solar panel</a:t>
                      </a:r>
                      <a:endParaRPr lang="en-US" sz="1800" b="0" i="0" dirty="0">
                        <a:solidFill>
                          <a:schemeClr val="tx1"/>
                        </a:solidFill>
                        <a:effectLst/>
                        <a:latin typeface="+mn-lt"/>
                        <a:ea typeface="+mn-ea"/>
                        <a:cs typeface="+mn-cs"/>
                      </a:endParaRPr>
                    </a:p>
                  </a:txBody>
                  <a:tcPr/>
                </a:tc>
                <a:tc>
                  <a:txBody>
                    <a:bodyPr/>
                    <a:lstStyle/>
                    <a:p>
                      <a:r>
                        <a:rPr lang="en-IN" sz="1800" b="0" i="0" dirty="0">
                          <a:solidFill>
                            <a:schemeClr val="dk1"/>
                          </a:solidFill>
                          <a:effectLst/>
                          <a:latin typeface="+mn-lt"/>
                          <a:ea typeface="+mn-ea"/>
                          <a:cs typeface="+mn-cs"/>
                        </a:rPr>
                        <a:t>N. </a:t>
                      </a:r>
                      <a:r>
                        <a:rPr lang="en-IN" sz="1800" b="0" i="0" dirty="0" err="1">
                          <a:solidFill>
                            <a:schemeClr val="dk1"/>
                          </a:solidFill>
                          <a:effectLst/>
                          <a:latin typeface="+mn-lt"/>
                          <a:ea typeface="+mn-ea"/>
                          <a:cs typeface="+mn-cs"/>
                        </a:rPr>
                        <a:t>Prastomo</a:t>
                      </a:r>
                      <a:r>
                        <a:rPr lang="en-IN" sz="1800" b="0" i="0" dirty="0">
                          <a:solidFill>
                            <a:schemeClr val="dk1"/>
                          </a:solidFill>
                          <a:effectLst/>
                          <a:latin typeface="+mn-lt"/>
                          <a:ea typeface="+mn-ea"/>
                          <a:cs typeface="+mn-cs"/>
                        </a:rPr>
                        <a:t>, Ryan and W. </a:t>
                      </a:r>
                      <a:r>
                        <a:rPr lang="en-IN" sz="1800" b="0" i="0" dirty="0" err="1">
                          <a:solidFill>
                            <a:schemeClr val="dk1"/>
                          </a:solidFill>
                          <a:effectLst/>
                          <a:latin typeface="+mn-lt"/>
                          <a:ea typeface="+mn-ea"/>
                          <a:cs typeface="+mn-cs"/>
                        </a:rPr>
                        <a:t>Budiman</a:t>
                      </a:r>
                      <a:r>
                        <a:rPr lang="en-IN" sz="1800" b="0" i="0" dirty="0">
                          <a:solidFill>
                            <a:schemeClr val="dk1"/>
                          </a:solidFill>
                          <a:effectLst/>
                          <a:latin typeface="+mn-lt"/>
                          <a:ea typeface="+mn-ea"/>
                          <a:cs typeface="+mn-cs"/>
                        </a:rPr>
                        <a:t>, "Automatic Dust Cleaning System with Wiper and Sprinkler for Solar Panel," </a:t>
                      </a:r>
                      <a:r>
                        <a:rPr lang="en-IN" sz="1800" b="0" i="1" dirty="0">
                          <a:solidFill>
                            <a:schemeClr val="dk1"/>
                          </a:solidFill>
                          <a:effectLst/>
                          <a:latin typeface="+mn-lt"/>
                          <a:ea typeface="+mn-ea"/>
                          <a:cs typeface="+mn-cs"/>
                        </a:rPr>
                        <a:t>2023 3rd International Conference on Smart Cities, Automation &amp; Intelligent Computing Systems (ICON-SONICS)</a:t>
                      </a:r>
                      <a:r>
                        <a:rPr lang="en-IN" sz="1800" b="0" i="0" dirty="0">
                          <a:solidFill>
                            <a:schemeClr val="dk1"/>
                          </a:solidFill>
                          <a:effectLst/>
                          <a:latin typeface="+mn-lt"/>
                          <a:ea typeface="+mn-ea"/>
                          <a:cs typeface="+mn-cs"/>
                        </a:rPr>
                        <a:t>, Bali, Indonesia, 2023, pp. 20-25, </a:t>
                      </a:r>
                      <a:r>
                        <a:rPr lang="en-IN" sz="1800" b="0" i="0" dirty="0" err="1">
                          <a:solidFill>
                            <a:schemeClr val="dk1"/>
                          </a:solidFill>
                          <a:effectLst/>
                          <a:latin typeface="+mn-lt"/>
                          <a:ea typeface="+mn-ea"/>
                          <a:cs typeface="+mn-cs"/>
                        </a:rPr>
                        <a:t>doi</a:t>
                      </a:r>
                      <a:r>
                        <a:rPr lang="en-IN" sz="1800" b="0" i="0" dirty="0">
                          <a:solidFill>
                            <a:schemeClr val="dk1"/>
                          </a:solidFill>
                          <a:effectLst/>
                          <a:latin typeface="+mn-lt"/>
                          <a:ea typeface="+mn-ea"/>
                          <a:cs typeface="+mn-cs"/>
                        </a:rPr>
                        <a:t>: 10.1109/ICON-SONICS59898.2023.10435085</a:t>
                      </a:r>
                      <a:endParaRPr lang="en-IN" sz="1800" dirty="0"/>
                    </a:p>
                  </a:txBody>
                  <a:tcPr/>
                </a:tc>
                <a:tc>
                  <a:txBody>
                    <a:bodyPr/>
                    <a:lstStyle/>
                    <a:p>
                      <a:pPr marL="285750" indent="-285750">
                        <a:buFont typeface="Arial" panose="020B0604020202020204" pitchFamily="34" charset="0"/>
                        <a:buChar char="•"/>
                      </a:pPr>
                      <a:r>
                        <a:rPr lang="en-US" sz="1800" b="0" dirty="0"/>
                        <a:t>The combined cleaning method (wiper + sprinkler) is the most effective, achieving up to 93.9% cleanliness compared to other methods. The system is practical for hard-to-reach rooftop panels, using the panel frame as a track for automated cleaning.</a:t>
                      </a:r>
                      <a:endParaRPr lang="en-IN" sz="1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9083144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2667592373"/>
              </p:ext>
            </p:extLst>
          </p:nvPr>
        </p:nvGraphicFramePr>
        <p:xfrm>
          <a:off x="158722" y="533400"/>
          <a:ext cx="14173200" cy="4719804"/>
        </p:xfrm>
        <a:graphic>
          <a:graphicData uri="http://schemas.openxmlformats.org/drawingml/2006/table">
            <a:tbl>
              <a:tblPr firstRow="1" bandRow="1">
                <a:tableStyleId>{5C22544A-7EE6-4342-B048-85BDC9FD1C3A}</a:tableStyleId>
              </a:tblPr>
              <a:tblGrid>
                <a:gridCol w="885824">
                  <a:extLst>
                    <a:ext uri="{9D8B030D-6E8A-4147-A177-3AD203B41FA5}">
                      <a16:colId xmlns:a16="http://schemas.microsoft.com/office/drawing/2014/main" val="20000"/>
                    </a:ext>
                  </a:extLst>
                </a:gridCol>
                <a:gridCol w="2979594">
                  <a:extLst>
                    <a:ext uri="{9D8B030D-6E8A-4147-A177-3AD203B41FA5}">
                      <a16:colId xmlns:a16="http://schemas.microsoft.com/office/drawing/2014/main" val="20001"/>
                    </a:ext>
                  </a:extLst>
                </a:gridCol>
                <a:gridCol w="2576946">
                  <a:extLst>
                    <a:ext uri="{9D8B030D-6E8A-4147-A177-3AD203B41FA5}">
                      <a16:colId xmlns:a16="http://schemas.microsoft.com/office/drawing/2014/main" val="20002"/>
                    </a:ext>
                  </a:extLst>
                </a:gridCol>
                <a:gridCol w="2738004">
                  <a:extLst>
                    <a:ext uri="{9D8B030D-6E8A-4147-A177-3AD203B41FA5}">
                      <a16:colId xmlns:a16="http://schemas.microsoft.com/office/drawing/2014/main" val="20003"/>
                    </a:ext>
                  </a:extLst>
                </a:gridCol>
                <a:gridCol w="4992832">
                  <a:extLst>
                    <a:ext uri="{9D8B030D-6E8A-4147-A177-3AD203B41FA5}">
                      <a16:colId xmlns:a16="http://schemas.microsoft.com/office/drawing/2014/main" val="20004"/>
                    </a:ext>
                  </a:extLst>
                </a:gridCol>
              </a:tblGrid>
              <a:tr h="513564">
                <a:tc>
                  <a:txBody>
                    <a:bodyPr/>
                    <a:lstStyle/>
                    <a:p>
                      <a:r>
                        <a:rPr lang="en-US" sz="1800" dirty="0"/>
                        <a:t>SL.NO</a:t>
                      </a:r>
                      <a:endParaRPr lang="en-IN" sz="1800" dirty="0"/>
                    </a:p>
                  </a:txBody>
                  <a:tcPr/>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US" sz="1800" dirty="0"/>
                        <a:t>Author and year</a:t>
                      </a:r>
                    </a:p>
                  </a:txBody>
                  <a:tcPr/>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US" sz="1800" dirty="0"/>
                        <a:t>Title</a:t>
                      </a:r>
                      <a:r>
                        <a:rPr lang="en-US" sz="1800" baseline="0" dirty="0"/>
                        <a:t> of the paper </a:t>
                      </a:r>
                      <a:endParaRPr lang="en-US" sz="1800" dirty="0"/>
                    </a:p>
                  </a:txBody>
                  <a:tcPr/>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US" sz="1800" dirty="0"/>
                        <a:t>Citation</a:t>
                      </a:r>
                    </a:p>
                  </a:txBody>
                  <a:tcPr/>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US" sz="1800" dirty="0"/>
                        <a:t>Observation</a:t>
                      </a:r>
                    </a:p>
                  </a:txBody>
                  <a:tcPr/>
                </a:tc>
                <a:extLst>
                  <a:ext uri="{0D108BD9-81ED-4DB2-BD59-A6C34878D82A}">
                    <a16:rowId xmlns:a16="http://schemas.microsoft.com/office/drawing/2014/main" val="10000"/>
                  </a:ext>
                </a:extLst>
              </a:tr>
              <a:tr h="3321969">
                <a:tc>
                  <a:txBody>
                    <a:bodyPr/>
                    <a:lstStyle/>
                    <a:p>
                      <a:r>
                        <a:rPr lang="en-US" sz="1800" dirty="0"/>
                        <a:t>5</a:t>
                      </a:r>
                      <a:endParaRPr lang="en-IN" sz="1800" dirty="0"/>
                    </a:p>
                  </a:txBody>
                  <a:tcPr/>
                </a:tc>
                <a:tc>
                  <a:txBody>
                    <a:bodyPr/>
                    <a:lstStyle/>
                    <a:p>
                      <a:r>
                        <a:rPr lang="en-IN" b="0" i="0" dirty="0">
                          <a:solidFill>
                            <a:schemeClr val="dk1"/>
                          </a:solidFill>
                          <a:effectLst/>
                          <a:latin typeface="+mn-lt"/>
                          <a:ea typeface="+mn-ea"/>
                          <a:cs typeface="+mn-cs"/>
                        </a:rPr>
                        <a:t>K. C. Mane, D. A. </a:t>
                      </a:r>
                      <a:r>
                        <a:rPr lang="en-IN" b="0" i="0" dirty="0" err="1">
                          <a:solidFill>
                            <a:schemeClr val="dk1"/>
                          </a:solidFill>
                          <a:effectLst/>
                          <a:latin typeface="+mn-lt"/>
                          <a:ea typeface="+mn-ea"/>
                          <a:cs typeface="+mn-cs"/>
                        </a:rPr>
                        <a:t>Pawar</a:t>
                      </a:r>
                      <a:r>
                        <a:rPr lang="en-IN" b="0" i="0" dirty="0">
                          <a:solidFill>
                            <a:schemeClr val="dk1"/>
                          </a:solidFill>
                          <a:effectLst/>
                          <a:latin typeface="+mn-lt"/>
                          <a:ea typeface="+mn-ea"/>
                          <a:cs typeface="+mn-cs"/>
                        </a:rPr>
                        <a:t>, S. M. </a:t>
                      </a:r>
                      <a:r>
                        <a:rPr lang="en-IN" b="0" i="0" dirty="0" err="1">
                          <a:solidFill>
                            <a:schemeClr val="dk1"/>
                          </a:solidFill>
                          <a:effectLst/>
                          <a:latin typeface="+mn-lt"/>
                          <a:ea typeface="+mn-ea"/>
                          <a:cs typeface="+mn-cs"/>
                        </a:rPr>
                        <a:t>Kalhapure</a:t>
                      </a:r>
                      <a:r>
                        <a:rPr lang="en-IN" b="0" i="0" dirty="0">
                          <a:solidFill>
                            <a:schemeClr val="dk1"/>
                          </a:solidFill>
                          <a:effectLst/>
                          <a:latin typeface="+mn-lt"/>
                          <a:ea typeface="+mn-ea"/>
                          <a:cs typeface="+mn-cs"/>
                        </a:rPr>
                        <a:t>, S. G. </a:t>
                      </a:r>
                      <a:r>
                        <a:rPr lang="en-IN" b="0" i="0" dirty="0" err="1">
                          <a:solidFill>
                            <a:schemeClr val="dk1"/>
                          </a:solidFill>
                          <a:effectLst/>
                          <a:latin typeface="+mn-lt"/>
                          <a:ea typeface="+mn-ea"/>
                          <a:cs typeface="+mn-cs"/>
                        </a:rPr>
                        <a:t>Aher</a:t>
                      </a:r>
                      <a:r>
                        <a:rPr lang="en-IN" b="0" i="0" dirty="0">
                          <a:solidFill>
                            <a:schemeClr val="dk1"/>
                          </a:solidFill>
                          <a:effectLst/>
                          <a:latin typeface="+mn-lt"/>
                          <a:ea typeface="+mn-ea"/>
                          <a:cs typeface="+mn-cs"/>
                        </a:rPr>
                        <a:t>, P. V. </a:t>
                      </a:r>
                      <a:r>
                        <a:rPr lang="en-IN" b="0" i="0" dirty="0" err="1">
                          <a:solidFill>
                            <a:schemeClr val="dk1"/>
                          </a:solidFill>
                          <a:effectLst/>
                          <a:latin typeface="+mn-lt"/>
                          <a:ea typeface="+mn-ea"/>
                          <a:cs typeface="+mn-cs"/>
                        </a:rPr>
                        <a:t>Thokal</a:t>
                      </a:r>
                      <a:r>
                        <a:rPr lang="en-IN" b="0" i="0" dirty="0">
                          <a:solidFill>
                            <a:schemeClr val="dk1"/>
                          </a:solidFill>
                          <a:effectLst/>
                          <a:latin typeface="+mn-lt"/>
                          <a:ea typeface="+mn-ea"/>
                          <a:cs typeface="+mn-cs"/>
                        </a:rPr>
                        <a:t> and D. B. </a:t>
                      </a:r>
                      <a:r>
                        <a:rPr lang="en-IN" b="0" i="0" dirty="0" err="1">
                          <a:solidFill>
                            <a:schemeClr val="dk1"/>
                          </a:solidFill>
                          <a:effectLst/>
                          <a:latin typeface="+mn-lt"/>
                          <a:ea typeface="+mn-ea"/>
                          <a:cs typeface="+mn-cs"/>
                        </a:rPr>
                        <a:t>Pardeshi</a:t>
                      </a:r>
                      <a:r>
                        <a:rPr lang="en-IN" b="0" i="0" dirty="0">
                          <a:solidFill>
                            <a:schemeClr val="dk1"/>
                          </a:solidFill>
                          <a:effectLst/>
                          <a:latin typeface="+mn-lt"/>
                          <a:ea typeface="+mn-ea"/>
                          <a:cs typeface="+mn-cs"/>
                        </a:rPr>
                        <a:t>, </a:t>
                      </a:r>
                      <a:r>
                        <a:rPr lang="en-US" sz="1800" b="0" i="0" dirty="0">
                          <a:solidFill>
                            <a:schemeClr val="dk1"/>
                          </a:solidFill>
                          <a:effectLst/>
                          <a:latin typeface="+mn-lt"/>
                          <a:ea typeface="+mn-ea"/>
                          <a:cs typeface="+mn-cs"/>
                        </a:rPr>
                        <a:t>2023</a:t>
                      </a:r>
                      <a:endParaRPr lang="en-IN" sz="1800" dirty="0"/>
                    </a:p>
                  </a:txBody>
                  <a:tcPr/>
                </a:tc>
                <a:tc>
                  <a:txBody>
                    <a:bodyPr/>
                    <a:lstStyle/>
                    <a:p>
                      <a:pPr marL="0" marR="0" indent="0" defTabSz="914400" eaLnBrk="1" fontAlgn="auto" latinLnBrk="0" hangingPunct="1">
                        <a:lnSpc>
                          <a:spcPct val="100000"/>
                        </a:lnSpc>
                        <a:spcBef>
                          <a:spcPts val="0"/>
                        </a:spcBef>
                        <a:spcAft>
                          <a:spcPts val="0"/>
                        </a:spcAft>
                        <a:buClrTx/>
                        <a:buSzTx/>
                        <a:buFontTx/>
                        <a:buNone/>
                        <a:tabLst/>
                        <a:defRPr/>
                      </a:pPr>
                      <a:r>
                        <a:rPr lang="en-US" sz="1800" b="0" i="0" u="none" dirty="0">
                          <a:solidFill>
                            <a:schemeClr val="tx1"/>
                          </a:solidFill>
                          <a:effectLst/>
                          <a:latin typeface="+mn-lt"/>
                          <a:ea typeface="+mn-ea"/>
                          <a:cs typeface="+mn-cs"/>
                        </a:rPr>
                        <a:t>Automatic Cleaning and Maintenance of Solar Panel and Efficiency Monitoring </a:t>
                      </a:r>
                    </a:p>
                    <a:p>
                      <a:endParaRPr lang="en-US" sz="1800" b="1" i="0" dirty="0">
                        <a:solidFill>
                          <a:schemeClr val="tx1"/>
                        </a:solidFill>
                        <a:effectLst/>
                        <a:latin typeface="+mn-lt"/>
                        <a:ea typeface="+mn-ea"/>
                        <a:cs typeface="+mn-cs"/>
                      </a:endParaRPr>
                    </a:p>
                  </a:txBody>
                  <a:tcPr/>
                </a:tc>
                <a:tc>
                  <a:txBody>
                    <a:bodyPr/>
                    <a:lstStyle/>
                    <a:p>
                      <a:r>
                        <a:rPr lang="en-IN" b="0" i="0" dirty="0">
                          <a:solidFill>
                            <a:schemeClr val="dk1"/>
                          </a:solidFill>
                          <a:effectLst/>
                          <a:latin typeface="+mn-lt"/>
                          <a:ea typeface="+mn-ea"/>
                          <a:cs typeface="+mn-cs"/>
                        </a:rPr>
                        <a:t>K. C. Mane, D. A. </a:t>
                      </a:r>
                      <a:r>
                        <a:rPr lang="en-IN" b="0" i="0" dirty="0" err="1">
                          <a:solidFill>
                            <a:schemeClr val="dk1"/>
                          </a:solidFill>
                          <a:effectLst/>
                          <a:latin typeface="+mn-lt"/>
                          <a:ea typeface="+mn-ea"/>
                          <a:cs typeface="+mn-cs"/>
                        </a:rPr>
                        <a:t>Pawar</a:t>
                      </a:r>
                      <a:r>
                        <a:rPr lang="en-IN" b="0" i="0" dirty="0">
                          <a:solidFill>
                            <a:schemeClr val="dk1"/>
                          </a:solidFill>
                          <a:effectLst/>
                          <a:latin typeface="+mn-lt"/>
                          <a:ea typeface="+mn-ea"/>
                          <a:cs typeface="+mn-cs"/>
                        </a:rPr>
                        <a:t>, S. M. </a:t>
                      </a:r>
                      <a:r>
                        <a:rPr lang="en-IN" b="0" i="0" dirty="0" err="1">
                          <a:solidFill>
                            <a:schemeClr val="dk1"/>
                          </a:solidFill>
                          <a:effectLst/>
                          <a:latin typeface="+mn-lt"/>
                          <a:ea typeface="+mn-ea"/>
                          <a:cs typeface="+mn-cs"/>
                        </a:rPr>
                        <a:t>Kalhapure</a:t>
                      </a:r>
                      <a:r>
                        <a:rPr lang="en-IN" b="0" i="0" dirty="0">
                          <a:solidFill>
                            <a:schemeClr val="dk1"/>
                          </a:solidFill>
                          <a:effectLst/>
                          <a:latin typeface="+mn-lt"/>
                          <a:ea typeface="+mn-ea"/>
                          <a:cs typeface="+mn-cs"/>
                        </a:rPr>
                        <a:t>, S. G. </a:t>
                      </a:r>
                      <a:r>
                        <a:rPr lang="en-IN" b="0" i="0" dirty="0" err="1">
                          <a:solidFill>
                            <a:schemeClr val="dk1"/>
                          </a:solidFill>
                          <a:effectLst/>
                          <a:latin typeface="+mn-lt"/>
                          <a:ea typeface="+mn-ea"/>
                          <a:cs typeface="+mn-cs"/>
                        </a:rPr>
                        <a:t>Aher</a:t>
                      </a:r>
                      <a:r>
                        <a:rPr lang="en-IN" b="0" i="0" dirty="0">
                          <a:solidFill>
                            <a:schemeClr val="dk1"/>
                          </a:solidFill>
                          <a:effectLst/>
                          <a:latin typeface="+mn-lt"/>
                          <a:ea typeface="+mn-ea"/>
                          <a:cs typeface="+mn-cs"/>
                        </a:rPr>
                        <a:t>, P. V. </a:t>
                      </a:r>
                      <a:r>
                        <a:rPr lang="en-IN" b="0" i="0" dirty="0" err="1">
                          <a:solidFill>
                            <a:schemeClr val="dk1"/>
                          </a:solidFill>
                          <a:effectLst/>
                          <a:latin typeface="+mn-lt"/>
                          <a:ea typeface="+mn-ea"/>
                          <a:cs typeface="+mn-cs"/>
                        </a:rPr>
                        <a:t>Thokal</a:t>
                      </a:r>
                      <a:r>
                        <a:rPr lang="en-IN" b="0" i="0" dirty="0">
                          <a:solidFill>
                            <a:schemeClr val="dk1"/>
                          </a:solidFill>
                          <a:effectLst/>
                          <a:latin typeface="+mn-lt"/>
                          <a:ea typeface="+mn-ea"/>
                          <a:cs typeface="+mn-cs"/>
                        </a:rPr>
                        <a:t> and D. B. </a:t>
                      </a:r>
                      <a:r>
                        <a:rPr lang="en-IN" b="0" i="0" dirty="0" err="1">
                          <a:solidFill>
                            <a:schemeClr val="dk1"/>
                          </a:solidFill>
                          <a:effectLst/>
                          <a:latin typeface="+mn-lt"/>
                          <a:ea typeface="+mn-ea"/>
                          <a:cs typeface="+mn-cs"/>
                        </a:rPr>
                        <a:t>Pardeshi</a:t>
                      </a:r>
                      <a:r>
                        <a:rPr lang="en-IN" b="0" i="0" dirty="0">
                          <a:solidFill>
                            <a:schemeClr val="dk1"/>
                          </a:solidFill>
                          <a:effectLst/>
                          <a:latin typeface="+mn-lt"/>
                          <a:ea typeface="+mn-ea"/>
                          <a:cs typeface="+mn-cs"/>
                        </a:rPr>
                        <a:t>, "Automatic Cleaning and Maintenance of Solar Panel and Efficiency Monitoring," </a:t>
                      </a:r>
                      <a:r>
                        <a:rPr lang="en-IN" b="0" i="1" dirty="0">
                          <a:solidFill>
                            <a:schemeClr val="dk1"/>
                          </a:solidFill>
                          <a:effectLst/>
                          <a:latin typeface="+mn-lt"/>
                          <a:ea typeface="+mn-ea"/>
                          <a:cs typeface="+mn-cs"/>
                        </a:rPr>
                        <a:t>2023 2nd International Conference on Edge Computing and Applications (ICECAA)</a:t>
                      </a:r>
                      <a:r>
                        <a:rPr lang="en-IN" b="0" i="0" dirty="0">
                          <a:solidFill>
                            <a:schemeClr val="dk1"/>
                          </a:solidFill>
                          <a:effectLst/>
                          <a:latin typeface="+mn-lt"/>
                          <a:ea typeface="+mn-ea"/>
                          <a:cs typeface="+mn-cs"/>
                        </a:rPr>
                        <a:t>, </a:t>
                      </a:r>
                      <a:r>
                        <a:rPr lang="en-IN" b="0" i="0" dirty="0" err="1">
                          <a:solidFill>
                            <a:schemeClr val="dk1"/>
                          </a:solidFill>
                          <a:effectLst/>
                          <a:latin typeface="+mn-lt"/>
                          <a:ea typeface="+mn-ea"/>
                          <a:cs typeface="+mn-cs"/>
                        </a:rPr>
                        <a:t>Namakkal</a:t>
                      </a:r>
                      <a:r>
                        <a:rPr lang="en-IN" b="0" i="0" dirty="0">
                          <a:solidFill>
                            <a:schemeClr val="dk1"/>
                          </a:solidFill>
                          <a:effectLst/>
                          <a:latin typeface="+mn-lt"/>
                          <a:ea typeface="+mn-ea"/>
                          <a:cs typeface="+mn-cs"/>
                        </a:rPr>
                        <a:t>, India, 2023, pp. 1582-1586, </a:t>
                      </a:r>
                      <a:r>
                        <a:rPr lang="en-IN" b="0" i="0" dirty="0" err="1">
                          <a:solidFill>
                            <a:schemeClr val="dk1"/>
                          </a:solidFill>
                          <a:effectLst/>
                          <a:latin typeface="+mn-lt"/>
                          <a:ea typeface="+mn-ea"/>
                          <a:cs typeface="+mn-cs"/>
                        </a:rPr>
                        <a:t>doi</a:t>
                      </a:r>
                      <a:r>
                        <a:rPr lang="en-IN" b="0" i="0" dirty="0">
                          <a:solidFill>
                            <a:schemeClr val="dk1"/>
                          </a:solidFill>
                          <a:effectLst/>
                          <a:latin typeface="+mn-lt"/>
                          <a:ea typeface="+mn-ea"/>
                          <a:cs typeface="+mn-cs"/>
                        </a:rPr>
                        <a:t>: 10.1109/ICECAA58104.2023.10212231.</a:t>
                      </a:r>
                      <a:endParaRPr lang="en-IN" sz="1800" dirty="0"/>
                    </a:p>
                  </a:txBody>
                  <a:tcPr/>
                </a:tc>
                <a:tc>
                  <a:txBody>
                    <a:bodyPr/>
                    <a:lstStyle/>
                    <a:p>
                      <a:pPr marL="285750" marR="0" indent="-2857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t>India faces significant energy challenges, with a large dependence (60–70%) on conventional sources like fuel, wood, and agricultural waste. Solar energy is a promising renewable alternative, but its effectiveness is impacted by environmental factors like dust</a:t>
                      </a:r>
                      <a:r>
                        <a:rPr lang="en-US" dirty="0"/>
                        <a:t>.</a:t>
                      </a:r>
                      <a:endParaRPr lang="en-IN" sz="1800" dirty="0"/>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2906534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76900" y="152400"/>
            <a:ext cx="3276600" cy="553998"/>
          </a:xfrm>
        </p:spPr>
        <p:txBody>
          <a:bodyPr/>
          <a:lstStyle/>
          <a:p>
            <a:r>
              <a:rPr lang="en-US" sz="3600" dirty="0"/>
              <a:t>OBJECTIVES</a:t>
            </a:r>
            <a:endParaRPr lang="en-IN" sz="3600" dirty="0"/>
          </a:p>
        </p:txBody>
      </p:sp>
      <p:sp>
        <p:nvSpPr>
          <p:cNvPr id="3" name="Text Placeholder 2"/>
          <p:cNvSpPr>
            <a:spLocks noGrp="1"/>
          </p:cNvSpPr>
          <p:nvPr>
            <p:ph type="body" idx="1"/>
          </p:nvPr>
        </p:nvSpPr>
        <p:spPr>
          <a:xfrm>
            <a:off x="495617" y="990600"/>
            <a:ext cx="13639165" cy="6027612"/>
          </a:xfrm>
        </p:spPr>
        <p:txBody>
          <a:bodyPr/>
          <a:lstStyle/>
          <a:p>
            <a:pPr marL="342900" indent="-342900">
              <a:lnSpc>
                <a:spcPct val="150000"/>
              </a:lnSpc>
              <a:buFont typeface="Wingdings" panose="05000000000000000000" pitchFamily="2" charset="2"/>
              <a:buChar char="Ø"/>
            </a:pPr>
            <a:r>
              <a:rPr lang="en-US" sz="2400" dirty="0"/>
              <a:t>To develop an AI-based automatic solar panel cleaning system that monitors real-time voltage, current, power, and energy output using embedded ESP32 sensors and transmits data continuously to a backend server. </a:t>
            </a:r>
          </a:p>
          <a:p>
            <a:pPr marL="342900" indent="-342900">
              <a:lnSpc>
                <a:spcPct val="150000"/>
              </a:lnSpc>
              <a:buFont typeface="Wingdings" panose="05000000000000000000" pitchFamily="2" charset="2"/>
              <a:buChar char="Ø"/>
            </a:pPr>
            <a:r>
              <a:rPr lang="en-US" sz="2400" dirty="0"/>
              <a:t>To predict dust accumulation at the solar installation location using real-time AQI data from the </a:t>
            </a:r>
            <a:r>
              <a:rPr lang="en-US" sz="2400" dirty="0" err="1"/>
              <a:t>OpenWeatherMap</a:t>
            </a:r>
            <a:r>
              <a:rPr lang="en-US" sz="2400" dirty="0"/>
              <a:t> API and autonomously trigger the cleaning robot when dust levels exceed a configurable threshold. </a:t>
            </a:r>
          </a:p>
          <a:p>
            <a:pPr marL="342900" indent="-342900">
              <a:lnSpc>
                <a:spcPct val="150000"/>
              </a:lnSpc>
              <a:buFont typeface="Wingdings" panose="05000000000000000000" pitchFamily="2" charset="2"/>
              <a:buChar char="Ø"/>
            </a:pPr>
            <a:r>
              <a:rPr lang="en-US" sz="2400" dirty="0"/>
              <a:t>To provide manual control functionality through a React Native mobile application, allowing users to directly operate the cleaning robot's movement, water spray, and charging relay in case of server or network failure. </a:t>
            </a:r>
          </a:p>
          <a:p>
            <a:pPr marL="342900" indent="-342900">
              <a:lnSpc>
                <a:spcPct val="150000"/>
              </a:lnSpc>
              <a:buFont typeface="Wingdings" panose="05000000000000000000" pitchFamily="2" charset="2"/>
              <a:buChar char="Ø"/>
            </a:pPr>
            <a:r>
              <a:rPr lang="en-US" sz="2400" dirty="0"/>
              <a:t>To improve overall solar energy efficiency while minimizing water consumption by cleaning only when environmental dust levels justify it, reducing unnecessary maintenance and operational costs.</a:t>
            </a:r>
            <a:endParaRPr lang="en-IN" sz="2400" dirty="0"/>
          </a:p>
        </p:txBody>
      </p:sp>
    </p:spTree>
    <p:extLst>
      <p:ext uri="{BB962C8B-B14F-4D97-AF65-F5344CB8AC3E}">
        <p14:creationId xmlns:p14="http://schemas.microsoft.com/office/powerpoint/2010/main" val="38196351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10722" y="135433"/>
            <a:ext cx="5943600" cy="553998"/>
          </a:xfrm>
        </p:spPr>
        <p:txBody>
          <a:bodyPr/>
          <a:lstStyle/>
          <a:p>
            <a:pPr algn="l"/>
            <a:r>
              <a:rPr lang="en-US" sz="3600" dirty="0"/>
              <a:t>PROBLEM  STATEMENT</a:t>
            </a:r>
            <a:endParaRPr lang="en-IN" sz="3600" dirty="0"/>
          </a:p>
        </p:txBody>
      </p:sp>
      <p:sp>
        <p:nvSpPr>
          <p:cNvPr id="3" name="Text Placeholder 2"/>
          <p:cNvSpPr>
            <a:spLocks noGrp="1"/>
          </p:cNvSpPr>
          <p:nvPr>
            <p:ph type="body" idx="1"/>
          </p:nvPr>
        </p:nvSpPr>
        <p:spPr>
          <a:xfrm>
            <a:off x="495617" y="1066800"/>
            <a:ext cx="13639165" cy="5909310"/>
          </a:xfrm>
        </p:spPr>
        <p:txBody>
          <a:bodyPr/>
          <a:lstStyle/>
          <a:p>
            <a:pPr marL="342900" indent="-342900" algn="just">
              <a:buFont typeface="Wingdings" panose="05000000000000000000" pitchFamily="2" charset="2"/>
              <a:buChar char="Ø"/>
            </a:pPr>
            <a:r>
              <a:rPr lang="en-US" sz="2400" dirty="0"/>
              <a:t>Solar photovoltaic systems experience significant power output reduction due to dust, dirt, and bird droppings accumulating on panel surfaces, with efficiency losses ranging from 5–30% in dry and polluted regions. Existing cleaning solutions rely on fixed schedules or manual labor, resulting in unnecessary water usage, increased operational costs, and safety risks — without considering actual dust levels at the installation site.</a:t>
            </a:r>
          </a:p>
          <a:p>
            <a:pPr marL="342900" indent="-342900" algn="just">
              <a:buFont typeface="Wingdings" panose="05000000000000000000" pitchFamily="2" charset="2"/>
              <a:buChar char="Ø"/>
            </a:pPr>
            <a:endParaRPr lang="en-US" sz="2400" dirty="0"/>
          </a:p>
          <a:p>
            <a:pPr marL="342900" indent="-342900" algn="just">
              <a:buFont typeface="Wingdings" panose="05000000000000000000" pitchFamily="2" charset="2"/>
              <a:buChar char="Ø"/>
            </a:pPr>
            <a:r>
              <a:rPr lang="en-US" sz="2400" dirty="0"/>
              <a:t>There is a clear need for an intelligent automated system that continuously monitors solar panel performance in real time, fetches environmental dust data from external sources to detect when cleaning is genuinely required, and autonomously initiates cleaning operations only when dust levels exceed a critical threshold. The system must also remain functional during server or network failures by providing direct manual control to the user.</a:t>
            </a:r>
          </a:p>
          <a:p>
            <a:pPr marL="342900" indent="-342900" algn="just">
              <a:buFont typeface="Wingdings" panose="05000000000000000000" pitchFamily="2" charset="2"/>
              <a:buChar char="Ø"/>
            </a:pPr>
            <a:r>
              <a:rPr lang="en-US" sz="2400" dirty="0"/>
              <a:t>This project addresses these challenges by developing an </a:t>
            </a:r>
            <a:r>
              <a:rPr lang="en-US" sz="2400" b="1" dirty="0"/>
              <a:t>end-to-end IoT and AI-based solar panel cleaning system</a:t>
            </a:r>
            <a:r>
              <a:rPr lang="en-US" sz="2400" dirty="0"/>
              <a:t> that integrates embedded sensor nodes, real-time air quality monitoring, machine learning-based predictions, autonomous robot control via MQTT, and a mobile application — ensuring maximum energy output, minimal water consumption, reduced maintenance costs, and reliable operation under all network conditions.</a:t>
            </a:r>
          </a:p>
        </p:txBody>
      </p:sp>
    </p:spTree>
    <p:extLst>
      <p:ext uri="{BB962C8B-B14F-4D97-AF65-F5344CB8AC3E}">
        <p14:creationId xmlns:p14="http://schemas.microsoft.com/office/powerpoint/2010/main" val="36222976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ABD185-47D1-35ED-A190-94E081CA9CA8}"/>
              </a:ext>
            </a:extLst>
          </p:cNvPr>
          <p:cNvSpPr>
            <a:spLocks noGrp="1"/>
          </p:cNvSpPr>
          <p:nvPr>
            <p:ph type="title"/>
          </p:nvPr>
        </p:nvSpPr>
        <p:spPr>
          <a:xfrm>
            <a:off x="5016817" y="304800"/>
            <a:ext cx="4596765" cy="553998"/>
          </a:xfrm>
        </p:spPr>
        <p:txBody>
          <a:bodyPr/>
          <a:lstStyle/>
          <a:p>
            <a:r>
              <a:rPr lang="en-US" sz="3600" dirty="0"/>
              <a:t>BLOCK DIAGRAM</a:t>
            </a:r>
            <a:endParaRPr lang="en-IN" sz="3600" dirty="0"/>
          </a:p>
        </p:txBody>
      </p:sp>
      <p:pic>
        <p:nvPicPr>
          <p:cNvPr id="5" name="Picture 4">
            <a:extLst>
              <a:ext uri="{FF2B5EF4-FFF2-40B4-BE49-F238E27FC236}">
                <a16:creationId xmlns:a16="http://schemas.microsoft.com/office/drawing/2014/main" id="{A2F10163-9F5B-98C6-F2B1-D59CF2F8D9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699" y="1066800"/>
            <a:ext cx="12458702" cy="6858000"/>
          </a:xfrm>
          <a:prstGeom prst="rect">
            <a:avLst/>
          </a:prstGeom>
        </p:spPr>
      </p:pic>
      <p:sp>
        <p:nvSpPr>
          <p:cNvPr id="3" name="Rectangle 2">
            <a:extLst>
              <a:ext uri="{FF2B5EF4-FFF2-40B4-BE49-F238E27FC236}">
                <a16:creationId xmlns:a16="http://schemas.microsoft.com/office/drawing/2014/main" id="{8DFF06EA-FA3F-8D51-07A0-9EA505D3A73C}"/>
              </a:ext>
            </a:extLst>
          </p:cNvPr>
          <p:cNvSpPr/>
          <p:nvPr/>
        </p:nvSpPr>
        <p:spPr>
          <a:xfrm>
            <a:off x="7620000" y="2667000"/>
            <a:ext cx="838200" cy="2286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dirty="0"/>
              <a:t>HTTTP</a:t>
            </a:r>
          </a:p>
        </p:txBody>
      </p:sp>
      <p:sp>
        <p:nvSpPr>
          <p:cNvPr id="8" name="Rectangle 7">
            <a:extLst>
              <a:ext uri="{FF2B5EF4-FFF2-40B4-BE49-F238E27FC236}">
                <a16:creationId xmlns:a16="http://schemas.microsoft.com/office/drawing/2014/main" id="{E3B91F5C-56E0-36AD-9815-D3C0FC98EE28}"/>
              </a:ext>
            </a:extLst>
          </p:cNvPr>
          <p:cNvSpPr/>
          <p:nvPr/>
        </p:nvSpPr>
        <p:spPr>
          <a:xfrm>
            <a:off x="3505200" y="4000500"/>
            <a:ext cx="1066800" cy="4191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en-IN" dirty="0"/>
              <a:t>HTTTP</a:t>
            </a:r>
          </a:p>
        </p:txBody>
      </p:sp>
    </p:spTree>
    <p:extLst>
      <p:ext uri="{BB962C8B-B14F-4D97-AF65-F5344CB8AC3E}">
        <p14:creationId xmlns:p14="http://schemas.microsoft.com/office/powerpoint/2010/main" val="18345597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4600" y="152400"/>
            <a:ext cx="10111740" cy="553998"/>
          </a:xfrm>
        </p:spPr>
        <p:txBody>
          <a:bodyPr/>
          <a:lstStyle/>
          <a:p>
            <a:pPr algn="ctr"/>
            <a:r>
              <a:rPr lang="en-US" sz="3600" dirty="0"/>
              <a:t>CIRCUIT DIAGRAM</a:t>
            </a:r>
          </a:p>
        </p:txBody>
      </p:sp>
      <p:sp>
        <p:nvSpPr>
          <p:cNvPr id="1026" name="AutoShape 2" descr="blob:https://web.whatsapp.com/1d5904f8-ebae-46b2-91ed-954042afec6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28" name="AutoShape 4" descr="blob:https://web.whatsapp.com/1d5904f8-ebae-46b2-91ed-954042afec6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030" name="AutoShape 6" descr="blob:https://web.whatsapp.com/1d5904f8-ebae-46b2-91ed-954042afec63"/>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34" name="Picture 10" descr="C:\Users\anagh\OneDrive\Desktop\self cleaning solar panel\Static.jpeg"/>
          <p:cNvPicPr>
            <a:picLocks noChangeAspect="1" noChangeArrowheads="1"/>
          </p:cNvPicPr>
          <p:nvPr/>
        </p:nvPicPr>
        <p:blipFill>
          <a:blip r:embed="rId2"/>
          <a:srcRect/>
          <a:stretch>
            <a:fillRect/>
          </a:stretch>
        </p:blipFill>
        <p:spPr bwMode="auto">
          <a:xfrm>
            <a:off x="1371600" y="2243210"/>
            <a:ext cx="5638800" cy="3438379"/>
          </a:xfrm>
          <a:prstGeom prst="rect">
            <a:avLst/>
          </a:prstGeom>
          <a:noFill/>
        </p:spPr>
      </p:pic>
      <p:pic>
        <p:nvPicPr>
          <p:cNvPr id="3" name="Picture 2" descr="C:\Users\anagh\OneDrive\Desktop\self cleaning solar panel\Bot.jpeg">
            <a:extLst>
              <a:ext uri="{FF2B5EF4-FFF2-40B4-BE49-F238E27FC236}">
                <a16:creationId xmlns:a16="http://schemas.microsoft.com/office/drawing/2014/main" id="{2A5F51D0-195A-B7F1-6536-D902530691DC}"/>
              </a:ext>
            </a:extLst>
          </p:cNvPr>
          <p:cNvPicPr>
            <a:picLocks noChangeAspect="1" noChangeArrowheads="1"/>
          </p:cNvPicPr>
          <p:nvPr/>
        </p:nvPicPr>
        <p:blipFill>
          <a:blip r:embed="rId3"/>
          <a:srcRect/>
          <a:stretch>
            <a:fillRect/>
          </a:stretch>
        </p:blipFill>
        <p:spPr bwMode="auto">
          <a:xfrm>
            <a:off x="7789987" y="2286000"/>
            <a:ext cx="5638800" cy="3352800"/>
          </a:xfrm>
          <a:prstGeom prst="rect">
            <a:avLst/>
          </a:prstGeo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0" y="228600"/>
            <a:ext cx="10111740" cy="553998"/>
          </a:xfrm>
        </p:spPr>
        <p:txBody>
          <a:bodyPr/>
          <a:lstStyle/>
          <a:p>
            <a:pPr algn="ctr"/>
            <a:r>
              <a:rPr lang="en-US" sz="3600" dirty="0"/>
              <a:t>METHODOLOGY</a:t>
            </a:r>
            <a:endParaRPr lang="en-IN" sz="3600" dirty="0"/>
          </a:p>
        </p:txBody>
      </p:sp>
      <p:sp>
        <p:nvSpPr>
          <p:cNvPr id="3" name="Text Placeholder 2"/>
          <p:cNvSpPr>
            <a:spLocks noGrp="1"/>
          </p:cNvSpPr>
          <p:nvPr>
            <p:ph type="body" idx="1"/>
          </p:nvPr>
        </p:nvSpPr>
        <p:spPr>
          <a:xfrm>
            <a:off x="990600" y="990600"/>
            <a:ext cx="12801600" cy="6832640"/>
          </a:xfrm>
        </p:spPr>
        <p:txBody>
          <a:bodyPr/>
          <a:lstStyle/>
          <a:p>
            <a:pPr algn="just">
              <a:lnSpc>
                <a:spcPct val="150000"/>
              </a:lnSpc>
              <a:buFont typeface="Wingdings" pitchFamily="2" charset="2"/>
              <a:buChar char="Ø"/>
            </a:pPr>
            <a:r>
              <a:rPr lang="en-US" sz="2400" b="1" dirty="0"/>
              <a:t>Monitoring &amp; AI Decision</a:t>
            </a:r>
            <a:r>
              <a:rPr lang="en-US" sz="2400" dirty="0"/>
              <a:t>: Voltage and current sensors continuously monitor the solar panel performance. The data is sent through the ESP32 to the cloud, where AI analyzes efficiency drop and decides whether cleaning is required.</a:t>
            </a:r>
          </a:p>
          <a:p>
            <a:pPr algn="just">
              <a:lnSpc>
                <a:spcPct val="150000"/>
              </a:lnSpc>
              <a:buFont typeface="Wingdings" pitchFamily="2" charset="2"/>
              <a:buChar char="Ø"/>
            </a:pPr>
            <a:r>
              <a:rPr lang="en-US" sz="2400" dirty="0"/>
              <a:t> </a:t>
            </a:r>
            <a:r>
              <a:rPr lang="en-US" sz="2400" b="1" dirty="0"/>
              <a:t>Cleaning Control (Automatic &amp; Manual): </a:t>
            </a:r>
            <a:r>
              <a:rPr lang="en-US" sz="2400" dirty="0"/>
              <a:t>If efficiency falls below a set limit, the AI sends a command to activate the relay module for automatic cleaning. Additionally, users can manually control the cleaning system through the cloud interface whenever needed. this is methodology and add the points how exactly API sends data and air quality index.</a:t>
            </a:r>
          </a:p>
          <a:p>
            <a:pPr algn="just">
              <a:lnSpc>
                <a:spcPct val="200000"/>
              </a:lnSpc>
            </a:pPr>
            <a:r>
              <a:rPr lang="en-US" sz="2400" b="1" dirty="0"/>
              <a:t>What is API and API key?</a:t>
            </a:r>
          </a:p>
          <a:p>
            <a:pPr algn="just">
              <a:lnSpc>
                <a:spcPct val="150000"/>
              </a:lnSpc>
            </a:pPr>
            <a:r>
              <a:rPr lang="en-US" sz="2400" b="1" dirty="0"/>
              <a:t>API</a:t>
            </a:r>
            <a:r>
              <a:rPr lang="en-US" sz="2400" dirty="0"/>
              <a:t> stands for </a:t>
            </a:r>
            <a:r>
              <a:rPr lang="en-US" sz="2400" b="1" dirty="0"/>
              <a:t>Application Programming Interface</a:t>
            </a:r>
            <a:r>
              <a:rPr lang="en-US" sz="2400" dirty="0"/>
              <a:t>. It is a set of rules and protocols that allow different software systems or components to communicate and interact with each other. </a:t>
            </a:r>
          </a:p>
          <a:p>
            <a:pPr algn="just">
              <a:lnSpc>
                <a:spcPct val="150000"/>
              </a:lnSpc>
            </a:pPr>
            <a:r>
              <a:rPr lang="en-US" sz="2400" b="1" dirty="0"/>
              <a:t>API key </a:t>
            </a:r>
            <a:r>
              <a:rPr lang="en-US" sz="2400" dirty="0"/>
              <a:t>is a </a:t>
            </a:r>
            <a:r>
              <a:rPr lang="en-US" sz="2400" b="1" dirty="0"/>
              <a:t>digital access badge</a:t>
            </a:r>
            <a:r>
              <a:rPr lang="en-US" sz="2400" dirty="0"/>
              <a:t> — without it, the API won’t let you in. It’s issued by the API provider and tied to your account </a:t>
            </a:r>
          </a:p>
        </p:txBody>
      </p:sp>
    </p:spTree>
    <p:extLst>
      <p:ext uri="{BB962C8B-B14F-4D97-AF65-F5344CB8AC3E}">
        <p14:creationId xmlns:p14="http://schemas.microsoft.com/office/powerpoint/2010/main" val="26708482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12CE93-83E0-79F2-A95B-FE63ADC64E9D}"/>
              </a:ext>
            </a:extLst>
          </p:cNvPr>
          <p:cNvSpPr>
            <a:spLocks noGrp="1"/>
          </p:cNvSpPr>
          <p:nvPr>
            <p:ph type="title"/>
          </p:nvPr>
        </p:nvSpPr>
        <p:spPr>
          <a:xfrm>
            <a:off x="685800" y="762000"/>
            <a:ext cx="13335000" cy="553998"/>
          </a:xfrm>
        </p:spPr>
        <p:txBody>
          <a:bodyPr/>
          <a:lstStyle/>
          <a:p>
            <a:pPr algn="ctr"/>
            <a:r>
              <a:rPr lang="en-US" sz="3600" u="none" dirty="0"/>
              <a:t>System Architecture and Hardware Setup</a:t>
            </a:r>
          </a:p>
        </p:txBody>
      </p:sp>
      <p:sp>
        <p:nvSpPr>
          <p:cNvPr id="3" name="Text Placeholder 2">
            <a:extLst>
              <a:ext uri="{FF2B5EF4-FFF2-40B4-BE49-F238E27FC236}">
                <a16:creationId xmlns:a16="http://schemas.microsoft.com/office/drawing/2014/main" id="{A99BB275-32A4-2695-4552-C912187E5047}"/>
              </a:ext>
            </a:extLst>
          </p:cNvPr>
          <p:cNvSpPr>
            <a:spLocks noGrp="1"/>
          </p:cNvSpPr>
          <p:nvPr>
            <p:ph type="body" idx="1"/>
          </p:nvPr>
        </p:nvSpPr>
        <p:spPr>
          <a:xfrm>
            <a:off x="914399" y="1752600"/>
            <a:ext cx="12954001" cy="5539978"/>
          </a:xfrm>
        </p:spPr>
        <p:txBody>
          <a:bodyPr/>
          <a:lstStyle/>
          <a:p>
            <a:pPr algn="just">
              <a:lnSpc>
                <a:spcPct val="150000"/>
              </a:lnSpc>
            </a:pPr>
            <a:r>
              <a:rPr lang="en-US" sz="2400" dirty="0"/>
              <a:t>	The system consists of two ESP32 microcontroller units connected over a common </a:t>
            </a:r>
            <a:r>
              <a:rPr lang="en-US" sz="2400" b="1" dirty="0" err="1"/>
              <a:t>WiFi</a:t>
            </a:r>
            <a:r>
              <a:rPr lang="en-US" sz="2400" dirty="0"/>
              <a:t> network. The first unit is a static measurement node mounted at the solar panel, equipped with a voltage sensor on GPIO 34 and a current sensor on GPIO 35. It continuously reads analog values at </a:t>
            </a:r>
            <a:r>
              <a:rPr lang="en-US" sz="2400" b="1" dirty="0"/>
              <a:t>12-bit ADC resolution</a:t>
            </a:r>
            <a:r>
              <a:rPr lang="en-US" sz="2400" dirty="0"/>
              <a:t>, converts them to real voltage and current using calibration factors, calculates power (</a:t>
            </a:r>
            <a:r>
              <a:rPr lang="en-US" sz="2400" b="1" dirty="0"/>
              <a:t>W = V × I</a:t>
            </a:r>
            <a:r>
              <a:rPr lang="en-US" sz="2400" dirty="0"/>
              <a:t>) and cumulative energy (</a:t>
            </a:r>
            <a:r>
              <a:rPr lang="en-US" sz="2400" b="1" dirty="0" err="1"/>
              <a:t>Wh</a:t>
            </a:r>
            <a:r>
              <a:rPr lang="en-US" sz="2400" dirty="0"/>
              <a:t>), and transmits this data every five seconds to the </a:t>
            </a:r>
            <a:r>
              <a:rPr lang="en-US" sz="2400" b="1" dirty="0"/>
              <a:t>Python </a:t>
            </a:r>
            <a:r>
              <a:rPr lang="en-US" sz="2400" b="1" dirty="0" err="1"/>
              <a:t>FastAPI</a:t>
            </a:r>
            <a:r>
              <a:rPr lang="en-US" sz="2400" dirty="0"/>
              <a:t> backend server via </a:t>
            </a:r>
            <a:r>
              <a:rPr lang="en-US" sz="2400" b="1" dirty="0"/>
              <a:t>HTTP</a:t>
            </a:r>
            <a:r>
              <a:rPr lang="en-US" sz="2400" dirty="0"/>
              <a:t> POST request in </a:t>
            </a:r>
            <a:r>
              <a:rPr lang="en-US" sz="2400" b="1" dirty="0"/>
              <a:t>JSON format</a:t>
            </a:r>
            <a:r>
              <a:rPr lang="en-US" sz="2400" dirty="0"/>
              <a:t>. The second unit is embedded inside an autonomous cleaning robot and controls four motors through two TB6612FNG motor driver chips — two 600 RPM drive wheels for panel traversal, and one water spray pump — all controlled via PWM signals from the ESP32.</a:t>
            </a:r>
          </a:p>
          <a:p>
            <a:pPr algn="just">
              <a:lnSpc>
                <a:spcPct val="150000"/>
              </a:lnSpc>
            </a:pPr>
            <a:endParaRPr lang="en-IN" sz="2400" dirty="0"/>
          </a:p>
        </p:txBody>
      </p:sp>
    </p:spTree>
    <p:extLst>
      <p:ext uri="{BB962C8B-B14F-4D97-AF65-F5344CB8AC3E}">
        <p14:creationId xmlns:p14="http://schemas.microsoft.com/office/powerpoint/2010/main" val="27409966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4D484-0102-CD33-6880-61C329B6E84E}"/>
              </a:ext>
            </a:extLst>
          </p:cNvPr>
          <p:cNvSpPr>
            <a:spLocks noGrp="1"/>
          </p:cNvSpPr>
          <p:nvPr>
            <p:ph type="title"/>
          </p:nvPr>
        </p:nvSpPr>
        <p:spPr>
          <a:xfrm>
            <a:off x="457200" y="304800"/>
            <a:ext cx="13639800" cy="553998"/>
          </a:xfrm>
        </p:spPr>
        <p:txBody>
          <a:bodyPr/>
          <a:lstStyle/>
          <a:p>
            <a:pPr algn="ctr"/>
            <a:r>
              <a:rPr lang="en-US" sz="3600" u="none" dirty="0"/>
              <a:t>Real-Time Air Quality Monitoring and AI Control</a:t>
            </a:r>
            <a:endParaRPr lang="en-IN" sz="3600" u="none" dirty="0"/>
          </a:p>
        </p:txBody>
      </p:sp>
      <p:sp>
        <p:nvSpPr>
          <p:cNvPr id="3" name="Text Placeholder 2">
            <a:extLst>
              <a:ext uri="{FF2B5EF4-FFF2-40B4-BE49-F238E27FC236}">
                <a16:creationId xmlns:a16="http://schemas.microsoft.com/office/drawing/2014/main" id="{5BD7FF75-7A06-F013-4EA7-2A77111DDCCC}"/>
              </a:ext>
            </a:extLst>
          </p:cNvPr>
          <p:cNvSpPr>
            <a:spLocks noGrp="1"/>
          </p:cNvSpPr>
          <p:nvPr>
            <p:ph type="body" idx="1"/>
          </p:nvPr>
        </p:nvSpPr>
        <p:spPr>
          <a:xfrm>
            <a:off x="533400" y="1027628"/>
            <a:ext cx="10591800" cy="7201972"/>
          </a:xfrm>
        </p:spPr>
        <p:txBody>
          <a:bodyPr/>
          <a:lstStyle/>
          <a:p>
            <a:pPr algn="just">
              <a:lnSpc>
                <a:spcPct val="150000"/>
              </a:lnSpc>
            </a:pPr>
            <a:r>
              <a:rPr lang="en-US" sz="2400" dirty="0"/>
              <a:t>	The backend server connects to the </a:t>
            </a:r>
            <a:r>
              <a:rPr lang="en-US" sz="2400" b="1" dirty="0" err="1"/>
              <a:t>OpenWeatherMap</a:t>
            </a:r>
            <a:r>
              <a:rPr lang="en-US" sz="2400" dirty="0"/>
              <a:t> Air Quality API to monitor environmental dust levels near the solar panel location. Every thirty minutes, the backend sends an HTTP GET request to fetch AQI data using the panel’s GPS coordinates.</a:t>
            </a:r>
          </a:p>
          <a:p>
            <a:pPr algn="just">
              <a:lnSpc>
                <a:spcPct val="150000"/>
              </a:lnSpc>
            </a:pPr>
            <a:r>
              <a:rPr lang="en-US" sz="2400" dirty="0"/>
              <a:t>The AQI value is converted to the standard 0–500 scale and compared with a configurable threshold stored in the system. If the AQI exceeds the limit, the backend automatically publishes a CLEAN command to the MQTT topic solar/bot/command.</a:t>
            </a:r>
          </a:p>
          <a:p>
            <a:pPr algn="just">
              <a:lnSpc>
                <a:spcPct val="150000"/>
              </a:lnSpc>
            </a:pPr>
            <a:r>
              <a:rPr lang="en-US" sz="2400" dirty="0"/>
              <a:t>The </a:t>
            </a:r>
            <a:r>
              <a:rPr lang="en-US" sz="2400" dirty="0" err="1"/>
              <a:t>Mosquitto</a:t>
            </a:r>
            <a:r>
              <a:rPr lang="en-US" sz="2400" dirty="0"/>
              <a:t> MQTT broker delivers this command to the cleaning robot ESP32. The robot then moves across the panel while simultaneously activating the water spray pump and rotating roller brush, completing a fully automatic cleaning cycle. Each cleaning operation is stored in the </a:t>
            </a:r>
            <a:r>
              <a:rPr lang="en-US" sz="2400" b="1" dirty="0"/>
              <a:t>PostgreSQL</a:t>
            </a:r>
            <a:r>
              <a:rPr lang="en-US" sz="2400" dirty="0"/>
              <a:t> database along with AQI value, trigger type, and timestamp for monitoring and analysis.</a:t>
            </a:r>
          </a:p>
          <a:p>
            <a:pPr algn="just">
              <a:lnSpc>
                <a:spcPct val="150000"/>
              </a:lnSpc>
            </a:pPr>
            <a:endParaRPr lang="en-IN" sz="2400" dirty="0"/>
          </a:p>
        </p:txBody>
      </p:sp>
      <p:pic>
        <p:nvPicPr>
          <p:cNvPr id="5" name="Picture 4" descr="Deep Learning-Based Dust Detection on Solar Panels: A Low-Cost Sustainable  Solution for Increased Solar Power Generation">
            <a:extLst>
              <a:ext uri="{FF2B5EF4-FFF2-40B4-BE49-F238E27FC236}">
                <a16:creationId xmlns:a16="http://schemas.microsoft.com/office/drawing/2014/main" id="{524F745E-1A68-93F8-32F4-D633242F09FF}"/>
              </a:ext>
            </a:extLst>
          </p:cNvPr>
          <p:cNvPicPr>
            <a:picLocks noChangeAspect="1"/>
          </p:cNvPicPr>
          <p:nvPr/>
        </p:nvPicPr>
        <p:blipFill>
          <a:blip r:embed="rId2" cstate="print"/>
          <a:stretch>
            <a:fillRect/>
          </a:stretch>
        </p:blipFill>
        <p:spPr>
          <a:xfrm rot="5400000">
            <a:off x="9845633" y="3032167"/>
            <a:ext cx="6161590" cy="2535657"/>
          </a:xfrm>
          <a:prstGeom prst="rect">
            <a:avLst/>
          </a:prstGeom>
        </p:spPr>
      </p:pic>
      <p:sp>
        <p:nvSpPr>
          <p:cNvPr id="4" name="Rectangle 3">
            <a:extLst>
              <a:ext uri="{FF2B5EF4-FFF2-40B4-BE49-F238E27FC236}">
                <a16:creationId xmlns:a16="http://schemas.microsoft.com/office/drawing/2014/main" id="{AB754D5B-8A25-B969-24D3-17E68FF2F52D}"/>
              </a:ext>
            </a:extLst>
          </p:cNvPr>
          <p:cNvSpPr/>
          <p:nvPr/>
        </p:nvSpPr>
        <p:spPr>
          <a:xfrm>
            <a:off x="14067692" y="2814095"/>
            <a:ext cx="304800" cy="2971800"/>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IN" dirty="0">
              <a:solidFill>
                <a:schemeClr val="bg1"/>
              </a:solidFill>
            </a:endParaRPr>
          </a:p>
        </p:txBody>
      </p:sp>
    </p:spTree>
    <p:extLst>
      <p:ext uri="{BB962C8B-B14F-4D97-AF65-F5344CB8AC3E}">
        <p14:creationId xmlns:p14="http://schemas.microsoft.com/office/powerpoint/2010/main" val="22564609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908B8-40B7-5355-C51C-3B14A741A242}"/>
              </a:ext>
            </a:extLst>
          </p:cNvPr>
          <p:cNvSpPr>
            <a:spLocks noGrp="1"/>
          </p:cNvSpPr>
          <p:nvPr>
            <p:ph type="title"/>
          </p:nvPr>
        </p:nvSpPr>
        <p:spPr>
          <a:xfrm>
            <a:off x="744415" y="240110"/>
            <a:ext cx="13428785" cy="553998"/>
          </a:xfrm>
        </p:spPr>
        <p:txBody>
          <a:bodyPr/>
          <a:lstStyle/>
          <a:p>
            <a:pPr algn="ctr"/>
            <a:r>
              <a:rPr lang="en-US" sz="3600" u="none" dirty="0"/>
              <a:t>Air quality data</a:t>
            </a:r>
            <a:endParaRPr lang="en-IN" sz="3600" u="none" dirty="0"/>
          </a:p>
        </p:txBody>
      </p:sp>
      <p:sp>
        <p:nvSpPr>
          <p:cNvPr id="3" name="Text Placeholder 2">
            <a:extLst>
              <a:ext uri="{FF2B5EF4-FFF2-40B4-BE49-F238E27FC236}">
                <a16:creationId xmlns:a16="http://schemas.microsoft.com/office/drawing/2014/main" id="{141C6558-18FA-2C1D-B669-AF62D6FD8365}"/>
              </a:ext>
            </a:extLst>
          </p:cNvPr>
          <p:cNvSpPr>
            <a:spLocks noGrp="1"/>
          </p:cNvSpPr>
          <p:nvPr>
            <p:ph type="body" idx="1"/>
          </p:nvPr>
        </p:nvSpPr>
        <p:spPr>
          <a:xfrm flipV="1">
            <a:off x="-2895600" y="1905000"/>
            <a:ext cx="2438401" cy="330860"/>
          </a:xfrm>
        </p:spPr>
        <p:txBody>
          <a:bodyPr/>
          <a:lstStyle/>
          <a:p>
            <a:r>
              <a:rPr lang="en-US" dirty="0"/>
              <a:t> </a:t>
            </a:r>
            <a:endParaRPr lang="en-IN" dirty="0"/>
          </a:p>
        </p:txBody>
      </p:sp>
      <p:graphicFrame>
        <p:nvGraphicFramePr>
          <p:cNvPr id="5" name="Table 4">
            <a:extLst>
              <a:ext uri="{FF2B5EF4-FFF2-40B4-BE49-F238E27FC236}">
                <a16:creationId xmlns:a16="http://schemas.microsoft.com/office/drawing/2014/main" id="{45CE2C5B-1472-C264-4BC0-BE49B6D48990}"/>
              </a:ext>
            </a:extLst>
          </p:cNvPr>
          <p:cNvGraphicFramePr>
            <a:graphicFrameLocks noGrp="1"/>
          </p:cNvGraphicFramePr>
          <p:nvPr>
            <p:extLst>
              <p:ext uri="{D42A27DB-BD31-4B8C-83A1-F6EECF244321}">
                <p14:modId xmlns:p14="http://schemas.microsoft.com/office/powerpoint/2010/main" val="1203262709"/>
              </p:ext>
            </p:extLst>
          </p:nvPr>
        </p:nvGraphicFramePr>
        <p:xfrm>
          <a:off x="609600" y="990600"/>
          <a:ext cx="13563600" cy="6375402"/>
        </p:xfrm>
        <a:graphic>
          <a:graphicData uri="http://schemas.openxmlformats.org/drawingml/2006/table">
            <a:tbl>
              <a:tblPr firstRow="1">
                <a:tableStyleId>{00A15C55-8517-42AA-B614-E9B94910E393}</a:tableStyleId>
              </a:tblPr>
              <a:tblGrid>
                <a:gridCol w="2712720">
                  <a:extLst>
                    <a:ext uri="{9D8B030D-6E8A-4147-A177-3AD203B41FA5}">
                      <a16:colId xmlns:a16="http://schemas.microsoft.com/office/drawing/2014/main" val="2303742152"/>
                    </a:ext>
                  </a:extLst>
                </a:gridCol>
                <a:gridCol w="2712720">
                  <a:extLst>
                    <a:ext uri="{9D8B030D-6E8A-4147-A177-3AD203B41FA5}">
                      <a16:colId xmlns:a16="http://schemas.microsoft.com/office/drawing/2014/main" val="114742179"/>
                    </a:ext>
                  </a:extLst>
                </a:gridCol>
                <a:gridCol w="2712720">
                  <a:extLst>
                    <a:ext uri="{9D8B030D-6E8A-4147-A177-3AD203B41FA5}">
                      <a16:colId xmlns:a16="http://schemas.microsoft.com/office/drawing/2014/main" val="3845511169"/>
                    </a:ext>
                  </a:extLst>
                </a:gridCol>
                <a:gridCol w="2712720">
                  <a:extLst>
                    <a:ext uri="{9D8B030D-6E8A-4147-A177-3AD203B41FA5}">
                      <a16:colId xmlns:a16="http://schemas.microsoft.com/office/drawing/2014/main" val="3950905876"/>
                    </a:ext>
                  </a:extLst>
                </a:gridCol>
                <a:gridCol w="2712720">
                  <a:extLst>
                    <a:ext uri="{9D8B030D-6E8A-4147-A177-3AD203B41FA5}">
                      <a16:colId xmlns:a16="http://schemas.microsoft.com/office/drawing/2014/main" val="1115672276"/>
                    </a:ext>
                  </a:extLst>
                </a:gridCol>
              </a:tblGrid>
              <a:tr h="536650">
                <a:tc>
                  <a:txBody>
                    <a:bodyPr/>
                    <a:lstStyle/>
                    <a:p>
                      <a:pPr algn="ctr"/>
                      <a:r>
                        <a:rPr lang="en-US" sz="2000" b="1" dirty="0">
                          <a:latin typeface="Times New Roman" pitchFamily="18" charset="0"/>
                          <a:cs typeface="Times New Roman" pitchFamily="18" charset="0"/>
                        </a:rPr>
                        <a:t>Real world air quality </a:t>
                      </a:r>
                      <a:endParaRPr lang="en-IN" sz="2000" b="1" dirty="0">
                        <a:latin typeface="Times New Roman" pitchFamily="18" charset="0"/>
                        <a:cs typeface="Times New Roman" pitchFamily="18" charset="0"/>
                      </a:endParaRPr>
                    </a:p>
                  </a:txBody>
                  <a:tcPr/>
                </a:tc>
                <a:tc>
                  <a:txBody>
                    <a:bodyPr/>
                    <a:lstStyle/>
                    <a:p>
                      <a:pPr algn="ctr"/>
                      <a:r>
                        <a:rPr lang="en-US" sz="2000" b="1" dirty="0">
                          <a:latin typeface="Times New Roman" pitchFamily="18" charset="0"/>
                          <a:cs typeface="Times New Roman" pitchFamily="18" charset="0"/>
                        </a:rPr>
                        <a:t>Level of harmful </a:t>
                      </a:r>
                      <a:endParaRPr lang="en-IN" sz="2000" b="1" dirty="0">
                        <a:latin typeface="Times New Roman" pitchFamily="18" charset="0"/>
                        <a:cs typeface="Times New Roman" pitchFamily="18" charset="0"/>
                      </a:endParaRPr>
                    </a:p>
                  </a:txBody>
                  <a:tcPr/>
                </a:tc>
                <a:tc>
                  <a:txBody>
                    <a:bodyPr/>
                    <a:lstStyle/>
                    <a:p>
                      <a:endParaRPr lang="en-US" sz="2000" b="1" dirty="0">
                        <a:latin typeface="Times New Roman" pitchFamily="18" charset="0"/>
                        <a:cs typeface="Times New Roman" pitchFamily="18" charset="0"/>
                      </a:endParaRPr>
                    </a:p>
                  </a:txBody>
                  <a:tcPr>
                    <a:blipFill>
                      <a:blip r:embed="rId2"/>
                      <a:stretch>
                        <a:fillRect l="-200449" t="-5682" r="-201124" b="-1092045"/>
                      </a:stretch>
                    </a:blipFill>
                  </a:tcPr>
                </a:tc>
                <a:tc>
                  <a:txBody>
                    <a:bodyPr/>
                    <a:lstStyle/>
                    <a:p>
                      <a:pPr algn="ctr"/>
                      <a:r>
                        <a:rPr lang="en-US" sz="2000" b="1" dirty="0">
                          <a:latin typeface="Times New Roman" pitchFamily="18" charset="0"/>
                          <a:cs typeface="Times New Roman" pitchFamily="18" charset="0"/>
                        </a:rPr>
                        <a:t>AQI</a:t>
                      </a:r>
                      <a:endParaRPr lang="en-IN" sz="2000" b="1" dirty="0">
                        <a:latin typeface="Times New Roman" pitchFamily="18" charset="0"/>
                        <a:cs typeface="Times New Roman" pitchFamily="18" charset="0"/>
                      </a:endParaRPr>
                    </a:p>
                  </a:txBody>
                  <a:tcPr/>
                </a:tc>
                <a:tc>
                  <a:txBody>
                    <a:bodyPr/>
                    <a:lstStyle/>
                    <a:p>
                      <a:pPr algn="ctr"/>
                      <a:r>
                        <a:rPr lang="en-US" sz="2000" b="1" dirty="0">
                          <a:latin typeface="Times New Roman" pitchFamily="18" charset="0"/>
                          <a:cs typeface="Times New Roman" pitchFamily="18" charset="0"/>
                        </a:rPr>
                        <a:t>Action taken </a:t>
                      </a:r>
                      <a:endParaRPr lang="en-IN" sz="2000" b="1" dirty="0">
                        <a:latin typeface="Times New Roman" pitchFamily="18" charset="0"/>
                        <a:cs typeface="Times New Roman" pitchFamily="18" charset="0"/>
                      </a:endParaRPr>
                    </a:p>
                  </a:txBody>
                  <a:tcPr/>
                </a:tc>
                <a:extLst>
                  <a:ext uri="{0D108BD9-81ED-4DB2-BD59-A6C34878D82A}">
                    <a16:rowId xmlns:a16="http://schemas.microsoft.com/office/drawing/2014/main" val="1153647569"/>
                  </a:ext>
                </a:extLst>
              </a:tr>
              <a:tr h="1459688">
                <a:tc>
                  <a:txBody>
                    <a:bodyPr/>
                    <a:lstStyle/>
                    <a:p>
                      <a:pPr algn="ctr"/>
                      <a:endParaRPr lang="en-IN" b="0" dirty="0"/>
                    </a:p>
                  </a:txBody>
                  <a:tcPr/>
                </a:tc>
                <a:tc>
                  <a:txBody>
                    <a:bodyPr/>
                    <a:lstStyle/>
                    <a:p>
                      <a:pPr algn="ctr"/>
                      <a:r>
                        <a:rPr lang="en-US" b="0" dirty="0">
                          <a:latin typeface="Times New Roman" pitchFamily="18" charset="0"/>
                          <a:cs typeface="Times New Roman" pitchFamily="18" charset="0"/>
                        </a:rPr>
                        <a:t>Very Poor / Hazardous</a:t>
                      </a:r>
                      <a:endParaRPr lang="en-IN" b="0" dirty="0">
                        <a:latin typeface="Times New Roman" pitchFamily="18" charset="0"/>
                        <a:cs typeface="Times New Roman" pitchFamily="18" charset="0"/>
                      </a:endParaRPr>
                    </a:p>
                  </a:txBody>
                  <a:tcPr/>
                </a:tc>
                <a:tc>
                  <a:txBody>
                    <a:bodyPr/>
                    <a:lstStyle/>
                    <a:p>
                      <a:pPr algn="ctr"/>
                      <a:r>
                        <a:rPr lang="en-IN" b="0" dirty="0">
                          <a:latin typeface="Times New Roman" pitchFamily="18" charset="0"/>
                          <a:cs typeface="Times New Roman" pitchFamily="18" charset="0"/>
                        </a:rPr>
                        <a:t>300–500 µg/m³</a:t>
                      </a:r>
                    </a:p>
                  </a:txBody>
                  <a:tcPr/>
                </a:tc>
                <a:tc>
                  <a:txBody>
                    <a:bodyPr/>
                    <a:lstStyle/>
                    <a:p>
                      <a:pPr algn="ctr"/>
                      <a:r>
                        <a:rPr lang="en-US" b="0" dirty="0">
                          <a:latin typeface="Times New Roman" pitchFamily="18" charset="0"/>
                          <a:cs typeface="Times New Roman" pitchFamily="18" charset="0"/>
                        </a:rPr>
                        <a:t>&gt;200</a:t>
                      </a:r>
                      <a:endParaRPr lang="en-IN" b="0" dirty="0">
                        <a:latin typeface="Times New Roman" pitchFamily="18" charset="0"/>
                        <a:cs typeface="Times New Roman" pitchFamily="18" charset="0"/>
                      </a:endParaRPr>
                    </a:p>
                  </a:txBody>
                  <a:tcPr/>
                </a:tc>
                <a:tc>
                  <a:txBody>
                    <a:bodyPr/>
                    <a:lstStyle/>
                    <a:p>
                      <a:pPr algn="ctr"/>
                      <a:r>
                        <a:rPr lang="en-US" b="0" dirty="0">
                          <a:latin typeface="Times New Roman" pitchFamily="18" charset="0"/>
                          <a:cs typeface="Times New Roman" pitchFamily="18" charset="0"/>
                        </a:rPr>
                        <a:t>Yes</a:t>
                      </a:r>
                      <a:endParaRPr lang="en-IN" b="0" dirty="0">
                        <a:latin typeface="Times New Roman" pitchFamily="18" charset="0"/>
                        <a:cs typeface="Times New Roman" pitchFamily="18" charset="0"/>
                      </a:endParaRPr>
                    </a:p>
                  </a:txBody>
                  <a:tcPr/>
                </a:tc>
                <a:extLst>
                  <a:ext uri="{0D108BD9-81ED-4DB2-BD59-A6C34878D82A}">
                    <a16:rowId xmlns:a16="http://schemas.microsoft.com/office/drawing/2014/main" val="137606192"/>
                  </a:ext>
                </a:extLst>
              </a:tr>
              <a:tr h="1459688">
                <a:tc>
                  <a:txBody>
                    <a:bodyPr/>
                    <a:lstStyle/>
                    <a:p>
                      <a:pPr algn="ctr"/>
                      <a:endParaRPr lang="en-IN" b="0"/>
                    </a:p>
                  </a:txBody>
                  <a:tcPr/>
                </a:tc>
                <a:tc>
                  <a:txBody>
                    <a:bodyPr/>
                    <a:lstStyle/>
                    <a:p>
                      <a:pPr algn="ctr"/>
                      <a:r>
                        <a:rPr lang="en-IN" dirty="0">
                          <a:latin typeface="Times New Roman" pitchFamily="18" charset="0"/>
                          <a:cs typeface="Times New Roman" pitchFamily="18" charset="0"/>
                        </a:rPr>
                        <a:t>Poor</a:t>
                      </a:r>
                      <a:endParaRPr lang="en-IN" b="0" dirty="0">
                        <a:latin typeface="Times New Roman" pitchFamily="18" charset="0"/>
                        <a:cs typeface="Times New Roman" pitchFamily="18" charset="0"/>
                      </a:endParaRPr>
                    </a:p>
                  </a:txBody>
                  <a:tcPr/>
                </a:tc>
                <a:tc>
                  <a:txBody>
                    <a:bodyPr/>
                    <a:lstStyle/>
                    <a:p>
                      <a:pPr algn="ctr"/>
                      <a:r>
                        <a:rPr lang="en-IN" b="0" dirty="0">
                          <a:latin typeface="Times New Roman" pitchFamily="18" charset="0"/>
                          <a:cs typeface="Times New Roman" pitchFamily="18" charset="0"/>
                        </a:rPr>
                        <a:t>180–250 µg/m³</a:t>
                      </a:r>
                    </a:p>
                  </a:txBody>
                  <a:tcPr/>
                </a:tc>
                <a:tc>
                  <a:txBody>
                    <a:bodyPr/>
                    <a:lstStyle/>
                    <a:p>
                      <a:pPr algn="ctr"/>
                      <a:r>
                        <a:rPr lang="en-US" b="0" dirty="0">
                          <a:latin typeface="Times New Roman" pitchFamily="18" charset="0"/>
                          <a:cs typeface="Times New Roman" pitchFamily="18" charset="0"/>
                        </a:rPr>
                        <a:t>200</a:t>
                      </a:r>
                      <a:endParaRPr lang="en-IN" b="0" dirty="0">
                        <a:latin typeface="Times New Roman" pitchFamily="18" charset="0"/>
                        <a:cs typeface="Times New Roman" pitchFamily="18" charset="0"/>
                      </a:endParaRPr>
                    </a:p>
                  </a:txBody>
                  <a:tcPr/>
                </a:tc>
                <a:tc>
                  <a:txBody>
                    <a:bodyPr/>
                    <a:lstStyle/>
                    <a:p>
                      <a:pPr algn="ctr"/>
                      <a:r>
                        <a:rPr lang="en-US" b="0" dirty="0">
                          <a:latin typeface="Times New Roman" pitchFamily="18" charset="0"/>
                          <a:cs typeface="Times New Roman" pitchFamily="18" charset="0"/>
                        </a:rPr>
                        <a:t>Yes</a:t>
                      </a:r>
                      <a:endParaRPr lang="en-IN" b="0" dirty="0">
                        <a:latin typeface="Times New Roman" pitchFamily="18" charset="0"/>
                        <a:cs typeface="Times New Roman" pitchFamily="18" charset="0"/>
                      </a:endParaRPr>
                    </a:p>
                  </a:txBody>
                  <a:tcPr/>
                </a:tc>
                <a:extLst>
                  <a:ext uri="{0D108BD9-81ED-4DB2-BD59-A6C34878D82A}">
                    <a16:rowId xmlns:a16="http://schemas.microsoft.com/office/drawing/2014/main" val="2523801818"/>
                  </a:ext>
                </a:extLst>
              </a:tr>
              <a:tr h="1459688">
                <a:tc>
                  <a:txBody>
                    <a:bodyPr/>
                    <a:lstStyle/>
                    <a:p>
                      <a:pPr algn="ctr"/>
                      <a:endParaRPr lang="en-IN" b="0" dirty="0"/>
                    </a:p>
                  </a:txBody>
                  <a:tcPr/>
                </a:tc>
                <a:tc>
                  <a:txBody>
                    <a:bodyPr/>
                    <a:lstStyle/>
                    <a:p>
                      <a:pPr algn="ctr"/>
                      <a:r>
                        <a:rPr lang="en-IN" dirty="0">
                          <a:latin typeface="Times New Roman" pitchFamily="18" charset="0"/>
                          <a:cs typeface="Times New Roman" pitchFamily="18" charset="0"/>
                        </a:rPr>
                        <a:t>Moderate to Poor</a:t>
                      </a:r>
                      <a:endParaRPr lang="en-IN" b="0" dirty="0">
                        <a:latin typeface="Times New Roman" pitchFamily="18" charset="0"/>
                        <a:cs typeface="Times New Roman" pitchFamily="18" charset="0"/>
                      </a:endParaRPr>
                    </a:p>
                  </a:txBody>
                  <a:tcPr/>
                </a:tc>
                <a:tc>
                  <a:txBody>
                    <a:bodyPr/>
                    <a:lstStyle/>
                    <a:p>
                      <a:pPr algn="ctr"/>
                      <a:r>
                        <a:rPr lang="en-IN" b="0" dirty="0">
                          <a:latin typeface="Times New Roman" pitchFamily="18" charset="0"/>
                          <a:cs typeface="Times New Roman" pitchFamily="18" charset="0"/>
                        </a:rPr>
                        <a:t>100-150 µg/m³</a:t>
                      </a:r>
                    </a:p>
                  </a:txBody>
                  <a:tcPr/>
                </a:tc>
                <a:tc>
                  <a:txBody>
                    <a:bodyPr/>
                    <a:lstStyle/>
                    <a:p>
                      <a:pPr algn="ctr"/>
                      <a:r>
                        <a:rPr lang="en-US" b="0" dirty="0">
                          <a:latin typeface="Times New Roman" pitchFamily="18" charset="0"/>
                          <a:cs typeface="Times New Roman" pitchFamily="18" charset="0"/>
                        </a:rPr>
                        <a:t>&lt;200</a:t>
                      </a:r>
                      <a:endParaRPr lang="en-IN" b="0" dirty="0">
                        <a:latin typeface="Times New Roman" pitchFamily="18" charset="0"/>
                        <a:cs typeface="Times New Roman" pitchFamily="18" charset="0"/>
                      </a:endParaRPr>
                    </a:p>
                  </a:txBody>
                  <a:tcPr/>
                </a:tc>
                <a:tc>
                  <a:txBody>
                    <a:bodyPr/>
                    <a:lstStyle/>
                    <a:p>
                      <a:pPr algn="ctr"/>
                      <a:r>
                        <a:rPr lang="en-US" b="0" dirty="0">
                          <a:latin typeface="Times New Roman" pitchFamily="18" charset="0"/>
                          <a:cs typeface="Times New Roman" pitchFamily="18" charset="0"/>
                        </a:rPr>
                        <a:t>No</a:t>
                      </a:r>
                      <a:endParaRPr lang="en-IN" b="0" dirty="0">
                        <a:latin typeface="Times New Roman" pitchFamily="18" charset="0"/>
                        <a:cs typeface="Times New Roman" pitchFamily="18" charset="0"/>
                      </a:endParaRPr>
                    </a:p>
                  </a:txBody>
                  <a:tcPr/>
                </a:tc>
                <a:extLst>
                  <a:ext uri="{0D108BD9-81ED-4DB2-BD59-A6C34878D82A}">
                    <a16:rowId xmlns:a16="http://schemas.microsoft.com/office/drawing/2014/main" val="2675020077"/>
                  </a:ext>
                </a:extLst>
              </a:tr>
              <a:tr h="1459688">
                <a:tc>
                  <a:txBody>
                    <a:bodyPr/>
                    <a:lstStyle/>
                    <a:p>
                      <a:pPr algn="ctr"/>
                      <a:endParaRPr lang="en-IN" b="0" dirty="0"/>
                    </a:p>
                  </a:txBody>
                  <a:tcPr/>
                </a:tc>
                <a:tc>
                  <a:txBody>
                    <a:bodyPr/>
                    <a:lstStyle/>
                    <a:p>
                      <a:pPr algn="ctr"/>
                      <a:r>
                        <a:rPr lang="en-US" b="0" dirty="0">
                          <a:latin typeface="Times New Roman" pitchFamily="18" charset="0"/>
                          <a:cs typeface="Times New Roman" pitchFamily="18" charset="0"/>
                        </a:rPr>
                        <a:t>Normal </a:t>
                      </a:r>
                      <a:endParaRPr lang="en-IN" b="0" dirty="0">
                        <a:latin typeface="Times New Roman" pitchFamily="18" charset="0"/>
                        <a:cs typeface="Times New Roman" pitchFamily="18" charset="0"/>
                      </a:endParaRPr>
                    </a:p>
                  </a:txBody>
                  <a:tcPr/>
                </a:tc>
                <a:tc>
                  <a:txBody>
                    <a:bodyPr/>
                    <a:lstStyle/>
                    <a:p>
                      <a:pPr algn="ctr"/>
                      <a:r>
                        <a:rPr lang="en-IN" b="0" dirty="0">
                          <a:latin typeface="Times New Roman" pitchFamily="18" charset="0"/>
                          <a:cs typeface="Times New Roman" pitchFamily="18" charset="0"/>
                        </a:rPr>
                        <a:t>​&lt;50 </a:t>
                      </a:r>
                      <a:r>
                        <a:rPr lang="el-GR" b="0" dirty="0">
                          <a:latin typeface="Times New Roman" pitchFamily="18" charset="0"/>
                          <a:cs typeface="Times New Roman" pitchFamily="18" charset="0"/>
                        </a:rPr>
                        <a:t>μ</a:t>
                      </a:r>
                      <a:r>
                        <a:rPr lang="en-IN" b="0" dirty="0">
                          <a:latin typeface="Times New Roman" pitchFamily="18" charset="0"/>
                          <a:cs typeface="Times New Roman" pitchFamily="18" charset="0"/>
                        </a:rPr>
                        <a:t>g/m3</a:t>
                      </a:r>
                    </a:p>
                  </a:txBody>
                  <a:tcPr/>
                </a:tc>
                <a:tc>
                  <a:txBody>
                    <a:bodyPr/>
                    <a:lstStyle/>
                    <a:p>
                      <a:pPr algn="ctr"/>
                      <a:r>
                        <a:rPr lang="en-US" b="0" dirty="0">
                          <a:latin typeface="Times New Roman" pitchFamily="18" charset="0"/>
                          <a:cs typeface="Times New Roman" pitchFamily="18" charset="0"/>
                        </a:rPr>
                        <a:t>0-150</a:t>
                      </a:r>
                      <a:endParaRPr lang="en-IN" b="0" dirty="0">
                        <a:latin typeface="Times New Roman" pitchFamily="18" charset="0"/>
                        <a:cs typeface="Times New Roman" pitchFamily="18" charset="0"/>
                      </a:endParaRPr>
                    </a:p>
                  </a:txBody>
                  <a:tcPr/>
                </a:tc>
                <a:tc>
                  <a:txBody>
                    <a:bodyPr/>
                    <a:lstStyle/>
                    <a:p>
                      <a:pPr algn="ctr"/>
                      <a:r>
                        <a:rPr lang="en-US" b="0" dirty="0">
                          <a:latin typeface="Times New Roman" pitchFamily="18" charset="0"/>
                          <a:cs typeface="Times New Roman" pitchFamily="18" charset="0"/>
                        </a:rPr>
                        <a:t>No </a:t>
                      </a:r>
                      <a:endParaRPr lang="en-IN" b="0" dirty="0">
                        <a:latin typeface="Times New Roman" pitchFamily="18" charset="0"/>
                        <a:cs typeface="Times New Roman" pitchFamily="18" charset="0"/>
                      </a:endParaRPr>
                    </a:p>
                  </a:txBody>
                  <a:tcPr/>
                </a:tc>
                <a:extLst>
                  <a:ext uri="{0D108BD9-81ED-4DB2-BD59-A6C34878D82A}">
                    <a16:rowId xmlns:a16="http://schemas.microsoft.com/office/drawing/2014/main" val="1183332337"/>
                  </a:ext>
                </a:extLst>
              </a:tr>
            </a:tbl>
          </a:graphicData>
        </a:graphic>
      </p:graphicFrame>
      <p:pic>
        <p:nvPicPr>
          <p:cNvPr id="8" name="Picture 7" descr="Delhi dust pollution: North India likely to get relief from hazardous air  with weekend thunderstorms">
            <a:extLst>
              <a:ext uri="{FF2B5EF4-FFF2-40B4-BE49-F238E27FC236}">
                <a16:creationId xmlns:a16="http://schemas.microsoft.com/office/drawing/2014/main" id="{D88EB38F-5A0F-1EEF-5FCD-271B9DB74399}"/>
              </a:ext>
            </a:extLst>
          </p:cNvPr>
          <p:cNvPicPr>
            <a:picLocks noChangeAspect="1"/>
          </p:cNvPicPr>
          <p:nvPr/>
        </p:nvPicPr>
        <p:blipFill>
          <a:blip r:embed="rId3" cstate="print"/>
          <a:stretch>
            <a:fillRect/>
          </a:stretch>
        </p:blipFill>
        <p:spPr>
          <a:xfrm>
            <a:off x="601883" y="2962229"/>
            <a:ext cx="2660248" cy="1396630"/>
          </a:xfrm>
          <a:prstGeom prst="rect">
            <a:avLst/>
          </a:prstGeom>
        </p:spPr>
      </p:pic>
      <p:pic>
        <p:nvPicPr>
          <p:cNvPr id="9" name="Picture 8" descr="Air quality measurement series: Dust (PM10)">
            <a:extLst>
              <a:ext uri="{FF2B5EF4-FFF2-40B4-BE49-F238E27FC236}">
                <a16:creationId xmlns:a16="http://schemas.microsoft.com/office/drawing/2014/main" id="{401C398D-8BB8-398C-008F-BA1438C4F36C}"/>
              </a:ext>
            </a:extLst>
          </p:cNvPr>
          <p:cNvPicPr>
            <a:picLocks noChangeAspect="1"/>
          </p:cNvPicPr>
          <p:nvPr/>
        </p:nvPicPr>
        <p:blipFill>
          <a:blip r:embed="rId4"/>
          <a:stretch>
            <a:fillRect/>
          </a:stretch>
        </p:blipFill>
        <p:spPr>
          <a:xfrm>
            <a:off x="609600" y="1489958"/>
            <a:ext cx="2660247" cy="1396630"/>
          </a:xfrm>
          <a:prstGeom prst="rect">
            <a:avLst/>
          </a:prstGeom>
        </p:spPr>
      </p:pic>
      <p:pic>
        <p:nvPicPr>
          <p:cNvPr id="10" name="Picture 9" descr="Thick Haze Blankets Delhi As Air Quality Remains Very Poor, Many Areas In  Red, Delhi Air Quality Index, Delhi Weather">
            <a:extLst>
              <a:ext uri="{FF2B5EF4-FFF2-40B4-BE49-F238E27FC236}">
                <a16:creationId xmlns:a16="http://schemas.microsoft.com/office/drawing/2014/main" id="{2204652F-E3D2-DB10-556E-E1629DB21007}"/>
              </a:ext>
            </a:extLst>
          </p:cNvPr>
          <p:cNvPicPr>
            <a:picLocks noChangeAspect="1"/>
          </p:cNvPicPr>
          <p:nvPr/>
        </p:nvPicPr>
        <p:blipFill>
          <a:blip r:embed="rId5"/>
          <a:stretch>
            <a:fillRect/>
          </a:stretch>
        </p:blipFill>
        <p:spPr>
          <a:xfrm>
            <a:off x="630820" y="4444903"/>
            <a:ext cx="2660246" cy="1371600"/>
          </a:xfrm>
          <a:prstGeom prst="rect">
            <a:avLst/>
          </a:prstGeom>
        </p:spPr>
      </p:pic>
      <p:pic>
        <p:nvPicPr>
          <p:cNvPr id="11" name="Picture 10" descr="What Delhi is doing to fight pollution: more metro trips, dust suppressant  | Delhi News - The Indian Express">
            <a:extLst>
              <a:ext uri="{FF2B5EF4-FFF2-40B4-BE49-F238E27FC236}">
                <a16:creationId xmlns:a16="http://schemas.microsoft.com/office/drawing/2014/main" id="{4488C0A7-CB58-70AD-6B7D-A97DFBAE40F5}"/>
              </a:ext>
            </a:extLst>
          </p:cNvPr>
          <p:cNvPicPr>
            <a:picLocks noChangeAspect="1"/>
          </p:cNvPicPr>
          <p:nvPr/>
        </p:nvPicPr>
        <p:blipFill>
          <a:blip r:embed="rId6" cstate="print"/>
          <a:stretch>
            <a:fillRect/>
          </a:stretch>
        </p:blipFill>
        <p:spPr>
          <a:xfrm>
            <a:off x="630820" y="5914329"/>
            <a:ext cx="2660246" cy="1248471"/>
          </a:xfrm>
          <a:prstGeom prst="rect">
            <a:avLst/>
          </a:prstGeom>
        </p:spPr>
      </p:pic>
    </p:spTree>
    <p:extLst>
      <p:ext uri="{BB962C8B-B14F-4D97-AF65-F5344CB8AC3E}">
        <p14:creationId xmlns:p14="http://schemas.microsoft.com/office/powerpoint/2010/main" val="21569690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EE3E-8777-EA0E-1312-3E4BABE02796}"/>
              </a:ext>
            </a:extLst>
          </p:cNvPr>
          <p:cNvSpPr>
            <a:spLocks noGrp="1"/>
          </p:cNvSpPr>
          <p:nvPr>
            <p:ph type="title"/>
          </p:nvPr>
        </p:nvSpPr>
        <p:spPr>
          <a:xfrm>
            <a:off x="762000" y="228600"/>
            <a:ext cx="13258800" cy="553998"/>
          </a:xfrm>
        </p:spPr>
        <p:txBody>
          <a:bodyPr/>
          <a:lstStyle/>
          <a:p>
            <a:pPr algn="ctr"/>
            <a:r>
              <a:rPr lang="en-US" sz="3600" u="none" dirty="0"/>
              <a:t>Machine Learning and Manual Control</a:t>
            </a:r>
            <a:endParaRPr lang="en-IN" sz="3600" u="none" dirty="0"/>
          </a:p>
        </p:txBody>
      </p:sp>
      <p:sp>
        <p:nvSpPr>
          <p:cNvPr id="3" name="Text Placeholder 2">
            <a:extLst>
              <a:ext uri="{FF2B5EF4-FFF2-40B4-BE49-F238E27FC236}">
                <a16:creationId xmlns:a16="http://schemas.microsoft.com/office/drawing/2014/main" id="{E3966D37-1A86-3ACC-54A5-AFA80011B9AC}"/>
              </a:ext>
            </a:extLst>
          </p:cNvPr>
          <p:cNvSpPr>
            <a:spLocks noGrp="1"/>
          </p:cNvSpPr>
          <p:nvPr>
            <p:ph type="body" idx="1"/>
          </p:nvPr>
        </p:nvSpPr>
        <p:spPr>
          <a:xfrm>
            <a:off x="838200" y="914400"/>
            <a:ext cx="13030200" cy="7144263"/>
          </a:xfrm>
        </p:spPr>
        <p:txBody>
          <a:bodyPr/>
          <a:lstStyle/>
          <a:p>
            <a:pPr algn="just">
              <a:lnSpc>
                <a:spcPct val="150000"/>
              </a:lnSpc>
            </a:pPr>
            <a:r>
              <a:rPr lang="en-US" sz="2400" dirty="0"/>
              <a:t>	Two machine learning models run continuously on the backend. The first model uses </a:t>
            </a:r>
            <a:r>
              <a:rPr lang="en-US" sz="2400" b="1" dirty="0"/>
              <a:t>Linear Regression trained </a:t>
            </a:r>
            <a:r>
              <a:rPr lang="en-US" sz="2400" dirty="0"/>
              <a:t>on historical power output readings to forecast solar energy production for the next six hours, enabling proactive energy management decisions. The second model analyzes the AQI trend over the past seven days to predict when dust levels will next exceed the threshold, providing advance warning of the next required cleaning cycle before panel efficiency degrades. Both predictions are stored in the database and displayed in the mobile application. For situations where the server is unavailable or network connectivity fails, the </a:t>
            </a:r>
            <a:r>
              <a:rPr lang="en-US" sz="2400" b="1" dirty="0"/>
              <a:t>React Native mobile application</a:t>
            </a:r>
            <a:r>
              <a:rPr lang="en-US" sz="2400" dirty="0"/>
              <a:t> provides a complete manual control interface allowing users to independently command robot forward and backward movement, activate or deactivate the water spray pump, control the roller brush, and toggle the solar charging relay — all communicated directly to the ESP32 via the MQTT broker. When the external air quality API is unavailable, the system automatically generates estimated AQI values between 30 and 50, refreshed every fifteen minutes, maintaining operational continuity and a functional user interface without interruption.</a:t>
            </a:r>
          </a:p>
          <a:p>
            <a:pPr algn="just">
              <a:lnSpc>
                <a:spcPct val="150000"/>
              </a:lnSpc>
            </a:pPr>
            <a:endParaRPr lang="en-IN" dirty="0"/>
          </a:p>
        </p:txBody>
      </p:sp>
    </p:spTree>
    <p:extLst>
      <p:ext uri="{BB962C8B-B14F-4D97-AF65-F5344CB8AC3E}">
        <p14:creationId xmlns:p14="http://schemas.microsoft.com/office/powerpoint/2010/main" val="16150091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6951F-E93B-FF5B-9812-5F535B68DAB6}"/>
              </a:ext>
            </a:extLst>
          </p:cNvPr>
          <p:cNvSpPr>
            <a:spLocks noGrp="1"/>
          </p:cNvSpPr>
          <p:nvPr>
            <p:ph type="title"/>
          </p:nvPr>
        </p:nvSpPr>
        <p:spPr>
          <a:xfrm>
            <a:off x="762000" y="252666"/>
            <a:ext cx="13030200" cy="814134"/>
          </a:xfrm>
        </p:spPr>
        <p:txBody>
          <a:bodyPr/>
          <a:lstStyle/>
          <a:p>
            <a:pPr algn="ctr"/>
            <a:r>
              <a:rPr lang="en-US" sz="3600" dirty="0"/>
              <a:t>HARDWARE AND SOFTWARE REQUIREMENTS</a:t>
            </a:r>
            <a:br>
              <a:rPr lang="en-US" dirty="0"/>
            </a:br>
            <a:endParaRPr lang="en-IN" dirty="0"/>
          </a:p>
        </p:txBody>
      </p:sp>
      <p:sp>
        <p:nvSpPr>
          <p:cNvPr id="3" name="Text Placeholder 2">
            <a:extLst>
              <a:ext uri="{FF2B5EF4-FFF2-40B4-BE49-F238E27FC236}">
                <a16:creationId xmlns:a16="http://schemas.microsoft.com/office/drawing/2014/main" id="{512C6F31-74EE-0119-0393-4AEA55E5C653}"/>
              </a:ext>
            </a:extLst>
          </p:cNvPr>
          <p:cNvSpPr>
            <a:spLocks noGrp="1"/>
          </p:cNvSpPr>
          <p:nvPr>
            <p:ph type="body" idx="1"/>
          </p:nvPr>
        </p:nvSpPr>
        <p:spPr>
          <a:xfrm>
            <a:off x="662940" y="1898332"/>
            <a:ext cx="13639165" cy="4649543"/>
          </a:xfrm>
        </p:spPr>
        <p:txBody>
          <a:bodyPr/>
          <a:lstStyle/>
          <a:p>
            <a:pPr>
              <a:lnSpc>
                <a:spcPct val="150000"/>
              </a:lnSpc>
            </a:pPr>
            <a:r>
              <a:rPr lang="en-IN" sz="3200" b="1" dirty="0"/>
              <a:t>1. Solar Panel</a:t>
            </a:r>
          </a:p>
          <a:p>
            <a:pPr marL="342900" indent="-342900">
              <a:lnSpc>
                <a:spcPct val="150000"/>
              </a:lnSpc>
              <a:buFont typeface="Wingdings" panose="05000000000000000000" pitchFamily="2" charset="2"/>
              <a:buChar char="Ø"/>
            </a:pPr>
            <a:r>
              <a:rPr lang="en-IN" dirty="0"/>
              <a:t>Type: Monocrystalline </a:t>
            </a:r>
          </a:p>
          <a:p>
            <a:pPr marL="342900" indent="-342900">
              <a:lnSpc>
                <a:spcPct val="150000"/>
              </a:lnSpc>
              <a:buFont typeface="Wingdings" panose="05000000000000000000" pitchFamily="2" charset="2"/>
              <a:buChar char="Ø"/>
            </a:pPr>
            <a:r>
              <a:rPr lang="en-IN" dirty="0"/>
              <a:t>Rated power (Pmax): 20W </a:t>
            </a:r>
          </a:p>
          <a:p>
            <a:pPr marL="342900" indent="-342900">
              <a:lnSpc>
                <a:spcPct val="150000"/>
              </a:lnSpc>
              <a:buFont typeface="Wingdings" panose="05000000000000000000" pitchFamily="2" charset="2"/>
              <a:buChar char="Ø"/>
            </a:pPr>
            <a:r>
              <a:rPr lang="en-IN" dirty="0"/>
              <a:t>Maximum voltage (</a:t>
            </a:r>
            <a:r>
              <a:rPr lang="en-IN" dirty="0" err="1"/>
              <a:t>Vmp</a:t>
            </a:r>
            <a:r>
              <a:rPr lang="en-IN" dirty="0"/>
              <a:t>): Typically 17–18V (for 12V panel)</a:t>
            </a:r>
          </a:p>
          <a:p>
            <a:pPr marL="342900" indent="-342900">
              <a:lnSpc>
                <a:spcPct val="150000"/>
              </a:lnSpc>
              <a:buFont typeface="Wingdings" panose="05000000000000000000" pitchFamily="2" charset="2"/>
              <a:buChar char="Ø"/>
            </a:pPr>
            <a:r>
              <a:rPr lang="en-IN" dirty="0"/>
              <a:t>Maximum current (Imp): Depends on wattage (e.g., ~1A for 20W)</a:t>
            </a:r>
          </a:p>
          <a:p>
            <a:pPr marL="342900" indent="-342900">
              <a:lnSpc>
                <a:spcPct val="150000"/>
              </a:lnSpc>
              <a:buFont typeface="Wingdings" panose="05000000000000000000" pitchFamily="2" charset="2"/>
              <a:buChar char="Ø"/>
            </a:pPr>
            <a:r>
              <a:rPr lang="en-IN" dirty="0"/>
              <a:t>Open circuit voltage (Voc): ~21–22V (for 12V panel)</a:t>
            </a:r>
          </a:p>
          <a:p>
            <a:pPr marL="342900" indent="-342900">
              <a:lnSpc>
                <a:spcPct val="150000"/>
              </a:lnSpc>
              <a:buFont typeface="Wingdings" panose="05000000000000000000" pitchFamily="2" charset="2"/>
              <a:buChar char="Ø"/>
            </a:pPr>
            <a:r>
              <a:rPr lang="en-IN" dirty="0"/>
              <a:t>Short circuit current (</a:t>
            </a:r>
            <a:r>
              <a:rPr lang="en-IN" dirty="0" err="1"/>
              <a:t>Isc</a:t>
            </a:r>
            <a:r>
              <a:rPr lang="en-IN" dirty="0"/>
              <a:t>): Slightly higher than Imp</a:t>
            </a:r>
          </a:p>
          <a:p>
            <a:pPr marL="342900" indent="-342900">
              <a:lnSpc>
                <a:spcPct val="150000"/>
              </a:lnSpc>
              <a:buFont typeface="Wingdings" panose="05000000000000000000" pitchFamily="2" charset="2"/>
              <a:buChar char="Ø"/>
            </a:pPr>
            <a:r>
              <a:rPr lang="en-IN" dirty="0"/>
              <a:t>Efficiency: ~15% – 22%</a:t>
            </a:r>
          </a:p>
          <a:p>
            <a:pPr marL="342900" indent="-342900">
              <a:lnSpc>
                <a:spcPct val="150000"/>
              </a:lnSpc>
              <a:buFont typeface="Wingdings" panose="05000000000000000000" pitchFamily="2" charset="2"/>
              <a:buChar char="Ø"/>
            </a:pPr>
            <a:r>
              <a:rPr lang="en-IN" dirty="0"/>
              <a:t>Operating temperature: -40°C to +85°C</a:t>
            </a:r>
          </a:p>
        </p:txBody>
      </p:sp>
      <p:pic>
        <p:nvPicPr>
          <p:cNvPr id="5" name="Picture 4">
            <a:extLst>
              <a:ext uri="{FF2B5EF4-FFF2-40B4-BE49-F238E27FC236}">
                <a16:creationId xmlns:a16="http://schemas.microsoft.com/office/drawing/2014/main" id="{4D339501-A1C1-74C5-C243-CEDFB74BE3BB}"/>
              </a:ext>
            </a:extLst>
          </p:cNvPr>
          <p:cNvPicPr>
            <a:picLocks noChangeAspect="1"/>
          </p:cNvPicPr>
          <p:nvPr/>
        </p:nvPicPr>
        <p:blipFill>
          <a:blip r:embed="rId2"/>
          <a:stretch>
            <a:fillRect/>
          </a:stretch>
        </p:blipFill>
        <p:spPr>
          <a:xfrm>
            <a:off x="9372600" y="2100262"/>
            <a:ext cx="4029075" cy="4029075"/>
          </a:xfrm>
          <a:prstGeom prst="rect">
            <a:avLst/>
          </a:prstGeom>
        </p:spPr>
      </p:pic>
      <p:sp>
        <p:nvSpPr>
          <p:cNvPr id="4" name="TextBox 3">
            <a:extLst>
              <a:ext uri="{FF2B5EF4-FFF2-40B4-BE49-F238E27FC236}">
                <a16:creationId xmlns:a16="http://schemas.microsoft.com/office/drawing/2014/main" id="{6304169E-E8AB-3646-40E1-3831CCE39593}"/>
              </a:ext>
            </a:extLst>
          </p:cNvPr>
          <p:cNvSpPr txBox="1"/>
          <p:nvPr/>
        </p:nvSpPr>
        <p:spPr>
          <a:xfrm>
            <a:off x="533400" y="1328410"/>
            <a:ext cx="7467600" cy="523220"/>
          </a:xfrm>
          <a:prstGeom prst="rect">
            <a:avLst/>
          </a:prstGeom>
          <a:noFill/>
        </p:spPr>
        <p:txBody>
          <a:bodyPr wrap="square" rtlCol="0">
            <a:spAutoFit/>
          </a:bodyPr>
          <a:lstStyle/>
          <a:p>
            <a:r>
              <a:rPr lang="en-US" sz="2800" b="1" u="sng" dirty="0">
                <a:latin typeface="Times New Roman" panose="02020603050405020304" pitchFamily="18" charset="0"/>
                <a:cs typeface="Times New Roman" panose="02020603050405020304" pitchFamily="18" charset="0"/>
              </a:rPr>
              <a:t>HARDWARE REQUIREMENT</a:t>
            </a:r>
            <a:endParaRPr lang="en-IN" sz="2800" b="1" u="sng"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812257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04800"/>
            <a:ext cx="13106400" cy="492443"/>
          </a:xfrm>
        </p:spPr>
        <p:txBody>
          <a:bodyPr/>
          <a:lstStyle/>
          <a:p>
            <a:pPr algn="ctr"/>
            <a:r>
              <a:rPr lang="en-US" sz="3200" dirty="0"/>
              <a:t>2. ESP32</a:t>
            </a:r>
          </a:p>
        </p:txBody>
      </p:sp>
      <p:sp>
        <p:nvSpPr>
          <p:cNvPr id="3" name="Text Placeholder 2"/>
          <p:cNvSpPr>
            <a:spLocks noGrp="1"/>
          </p:cNvSpPr>
          <p:nvPr>
            <p:ph type="body" idx="1"/>
          </p:nvPr>
        </p:nvSpPr>
        <p:spPr>
          <a:xfrm>
            <a:off x="662940" y="1143000"/>
            <a:ext cx="13639165" cy="4611840"/>
          </a:xfrm>
        </p:spPr>
        <p:txBody>
          <a:bodyPr/>
          <a:lstStyle/>
          <a:p>
            <a:r>
              <a:rPr lang="en-US" sz="2800" dirty="0"/>
              <a:t> </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Microcontroller: ESP32 * 2</a:t>
            </a:r>
          </a:p>
          <a:p>
            <a:pPr marL="342900" indent="-3429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Clock Speed: Up to 240 MHz</a:t>
            </a:r>
          </a:p>
          <a:p>
            <a:pPr marL="342900" indent="-3429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Operating Voltage: 3.0V – 3.6V (Recommended 3.3V)</a:t>
            </a:r>
          </a:p>
          <a:p>
            <a:pPr marL="342900" indent="-3429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Flash Memory: 4MB (external SPI flash, varies by model)</a:t>
            </a:r>
          </a:p>
          <a:p>
            <a:pPr marL="342900" indent="-3429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SRAM: 520KB</a:t>
            </a:r>
          </a:p>
          <a:p>
            <a:pPr marL="342900" indent="-3429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EEPROM: Available </a:t>
            </a:r>
          </a:p>
          <a:p>
            <a:pPr marL="342900" indent="-342900" algn="just">
              <a:lnSpc>
                <a:spcPct val="150000"/>
              </a:lnSpc>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Power Consumption: Low power, multiple sleep modes</a:t>
            </a:r>
            <a:endParaRPr lang="en-US" sz="24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48800" y="1510975"/>
            <a:ext cx="3962400" cy="5207649"/>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38800" y="228600"/>
            <a:ext cx="3758565" cy="492443"/>
          </a:xfrm>
        </p:spPr>
        <p:txBody>
          <a:bodyPr/>
          <a:lstStyle/>
          <a:p>
            <a:r>
              <a:rPr lang="en-US" sz="3200" dirty="0"/>
              <a:t>3. Relay module</a:t>
            </a:r>
          </a:p>
        </p:txBody>
      </p:sp>
      <p:sp>
        <p:nvSpPr>
          <p:cNvPr id="3" name="Text Placeholder 2"/>
          <p:cNvSpPr>
            <a:spLocks noGrp="1"/>
          </p:cNvSpPr>
          <p:nvPr>
            <p:ph type="body" idx="1"/>
          </p:nvPr>
        </p:nvSpPr>
        <p:spPr>
          <a:xfrm>
            <a:off x="838200" y="990601"/>
            <a:ext cx="12877800" cy="7010400"/>
          </a:xfrm>
        </p:spPr>
        <p:txBody>
          <a:bodyPr/>
          <a:lstStyle/>
          <a:p>
            <a:pPr marL="342900" indent="-342900" algn="just">
              <a:buFont typeface="Wingdings" panose="05000000000000000000" pitchFamily="2" charset="2"/>
              <a:buChar char="Ø"/>
            </a:pPr>
            <a:r>
              <a:rPr lang="en-US" sz="2400" b="1" dirty="0"/>
              <a:t>Operating Voltage:</a:t>
            </a:r>
            <a:r>
              <a:rPr lang="en-US" sz="2400" dirty="0"/>
              <a:t> 5V DC (to power the relay coil) </a:t>
            </a:r>
          </a:p>
          <a:p>
            <a:pPr algn="just"/>
            <a:endParaRPr lang="en-US" sz="2400" dirty="0"/>
          </a:p>
          <a:p>
            <a:pPr marL="342900" indent="-342900" algn="just">
              <a:buFont typeface="Wingdings" panose="05000000000000000000" pitchFamily="2" charset="2"/>
              <a:buChar char="Ø"/>
            </a:pPr>
            <a:r>
              <a:rPr lang="en-US" sz="2400" b="1" dirty="0"/>
              <a:t>Trigger Voltage:</a:t>
            </a:r>
          </a:p>
          <a:p>
            <a:pPr algn="just"/>
            <a:r>
              <a:rPr lang="en-US" sz="2400" dirty="0"/>
              <a:t>      Works with 3.3V or 5V logic signals </a:t>
            </a:r>
          </a:p>
          <a:p>
            <a:pPr algn="just"/>
            <a:r>
              <a:rPr lang="en-US" sz="2400" dirty="0"/>
              <a:t>      Compatible with ESP32 (3.3V GPIO) </a:t>
            </a:r>
          </a:p>
          <a:p>
            <a:pPr algn="just"/>
            <a:endParaRPr lang="en-US" sz="2400" dirty="0"/>
          </a:p>
          <a:p>
            <a:pPr marL="342900" indent="-342900" algn="just">
              <a:buFont typeface="Wingdings" panose="05000000000000000000" pitchFamily="2" charset="2"/>
              <a:buChar char="Ø"/>
            </a:pPr>
            <a:r>
              <a:rPr lang="en-US" sz="2400" b="1" dirty="0"/>
              <a:t>Current Consumption:</a:t>
            </a:r>
            <a:r>
              <a:rPr lang="en-US" sz="2400" dirty="0"/>
              <a:t>~70–100 mA per relay when activated </a:t>
            </a:r>
          </a:p>
          <a:p>
            <a:pPr algn="just"/>
            <a:endParaRPr lang="en-US" sz="2400" dirty="0"/>
          </a:p>
          <a:p>
            <a:pPr marL="342900" indent="-342900" algn="just">
              <a:buFont typeface="Wingdings" panose="05000000000000000000" pitchFamily="2" charset="2"/>
              <a:buChar char="Ø"/>
            </a:pPr>
            <a:r>
              <a:rPr lang="en-US" sz="2400" b="1" dirty="0"/>
              <a:t>Switching Capacity: </a:t>
            </a:r>
            <a:r>
              <a:rPr lang="en-US" sz="2400" dirty="0"/>
              <a:t>10A at 250V AC and 10A at 30V DC</a:t>
            </a:r>
          </a:p>
          <a:p>
            <a:pPr algn="just"/>
            <a:endParaRPr lang="en-US" sz="2400" dirty="0"/>
          </a:p>
          <a:p>
            <a:pPr marL="342900" indent="-342900" algn="just">
              <a:buFont typeface="Wingdings" panose="05000000000000000000" pitchFamily="2" charset="2"/>
              <a:buChar char="Ø"/>
            </a:pPr>
            <a:r>
              <a:rPr lang="en-US" sz="2400" b="1" dirty="0"/>
              <a:t>Pins</a:t>
            </a:r>
          </a:p>
          <a:p>
            <a:pPr algn="just"/>
            <a:r>
              <a:rPr lang="en-US" sz="2400" b="1" dirty="0"/>
              <a:t>       VCC</a:t>
            </a:r>
            <a:r>
              <a:rPr lang="en-US" sz="2400" dirty="0"/>
              <a:t> → 5V supply </a:t>
            </a:r>
          </a:p>
          <a:p>
            <a:pPr algn="just"/>
            <a:r>
              <a:rPr lang="en-US" sz="2400" b="1" dirty="0"/>
              <a:t>       GND</a:t>
            </a:r>
            <a:r>
              <a:rPr lang="en-US" sz="2400" dirty="0"/>
              <a:t> → Ground </a:t>
            </a:r>
          </a:p>
          <a:p>
            <a:pPr algn="just"/>
            <a:r>
              <a:rPr lang="en-US" sz="2400" b="1" dirty="0"/>
              <a:t>       IN</a:t>
            </a:r>
            <a:r>
              <a:rPr lang="en-US" sz="2400" dirty="0"/>
              <a:t> → Control signal from ESP32 </a:t>
            </a:r>
          </a:p>
          <a:p>
            <a:pPr marL="342900" indent="-342900" algn="just">
              <a:buFont typeface="Wingdings" panose="05000000000000000000" pitchFamily="2" charset="2"/>
              <a:buChar char="Ø"/>
            </a:pPr>
            <a:r>
              <a:rPr lang="en-US" sz="2400" b="1" dirty="0"/>
              <a:t>Output Terminals</a:t>
            </a:r>
          </a:p>
          <a:p>
            <a:pPr algn="just"/>
            <a:r>
              <a:rPr lang="en-US" sz="2400" b="1" dirty="0"/>
              <a:t>       COM (Common)</a:t>
            </a:r>
            <a:r>
              <a:rPr lang="en-US" sz="2400" dirty="0"/>
              <a:t> </a:t>
            </a:r>
          </a:p>
          <a:p>
            <a:pPr algn="just"/>
            <a:r>
              <a:rPr lang="en-US" sz="2400" b="1" dirty="0"/>
              <a:t>       NO (Normally Open)</a:t>
            </a:r>
            <a:r>
              <a:rPr lang="en-US" sz="2400" dirty="0"/>
              <a:t> </a:t>
            </a:r>
          </a:p>
          <a:p>
            <a:pPr algn="just"/>
            <a:r>
              <a:rPr lang="en-US" sz="2400" b="1" dirty="0"/>
              <a:t>       NC (Normally Closed)</a:t>
            </a:r>
            <a:endParaRPr lang="en-US" sz="2400" dirty="0"/>
          </a:p>
          <a:p>
            <a:pPr marL="342900" indent="-342900" algn="just">
              <a:buFont typeface="Wingdings" panose="05000000000000000000" pitchFamily="2" charset="2"/>
              <a:buChar char="Ø"/>
            </a:pPr>
            <a:endParaRPr lang="en-US" dirty="0"/>
          </a:p>
          <a:p>
            <a:pPr marL="342900" indent="-342900" algn="just">
              <a:buFont typeface="Wingdings" panose="05000000000000000000" pitchFamily="2" charset="2"/>
              <a:buChar char="Ø"/>
            </a:pPr>
            <a:endParaRPr lang="en-US" dirty="0"/>
          </a:p>
          <a:p>
            <a:pPr algn="just"/>
            <a:endParaRPr lang="en-US" dirty="0"/>
          </a:p>
        </p:txBody>
      </p:sp>
      <p:pic>
        <p:nvPicPr>
          <p:cNvPr id="2050" name="Picture 2" descr="5V Single Channel RELAY Module"/>
          <p:cNvPicPr>
            <a:picLocks noChangeAspect="1" noChangeArrowheads="1"/>
          </p:cNvPicPr>
          <p:nvPr/>
        </p:nvPicPr>
        <p:blipFill>
          <a:blip r:embed="rId2"/>
          <a:srcRect/>
          <a:stretch>
            <a:fillRect/>
          </a:stretch>
        </p:blipFill>
        <p:spPr bwMode="auto">
          <a:xfrm>
            <a:off x="9144000" y="1981200"/>
            <a:ext cx="5029200" cy="4495800"/>
          </a:xfrm>
          <a:prstGeom prst="rect">
            <a:avLst/>
          </a:prstGeo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914401" y="457200"/>
            <a:ext cx="13106400" cy="7315200"/>
          </a:xfrm>
        </p:spPr>
        <p:txBody>
          <a:bodyPr/>
          <a:lstStyle/>
          <a:p>
            <a:pPr algn="ctr"/>
            <a:r>
              <a:rPr lang="en-US" sz="3200" b="1" u="sng" dirty="0"/>
              <a:t>4. Voltage Sensor</a:t>
            </a:r>
          </a:p>
          <a:p>
            <a:pPr algn="just"/>
            <a:endParaRPr lang="en-US" sz="2400" b="1" dirty="0"/>
          </a:p>
          <a:p>
            <a:pPr algn="just"/>
            <a:endParaRPr lang="en-US" b="1" dirty="0"/>
          </a:p>
          <a:p>
            <a:pPr marL="342900" indent="-342900" algn="just">
              <a:lnSpc>
                <a:spcPct val="150000"/>
              </a:lnSpc>
              <a:buFont typeface="Wingdings" panose="05000000000000000000" pitchFamily="2" charset="2"/>
              <a:buChar char="Ø"/>
            </a:pPr>
            <a:r>
              <a:rPr lang="en-US" sz="2400" b="1" dirty="0"/>
              <a:t>Voltage Input Range:</a:t>
            </a:r>
            <a:r>
              <a:rPr lang="en-US" sz="2400" dirty="0"/>
              <a:t>0 to 25V DC</a:t>
            </a:r>
          </a:p>
          <a:p>
            <a:pPr marL="342900" indent="-342900" algn="just">
              <a:lnSpc>
                <a:spcPct val="150000"/>
              </a:lnSpc>
              <a:buFont typeface="Wingdings" panose="05000000000000000000" pitchFamily="2" charset="2"/>
              <a:buChar char="Ø"/>
            </a:pPr>
            <a:r>
              <a:rPr lang="en-US" sz="2400" b="1" dirty="0"/>
              <a:t>Voltage Detection Range:</a:t>
            </a:r>
            <a:r>
              <a:rPr lang="en-US" sz="2400" dirty="0"/>
              <a:t>0 to 25V DC</a:t>
            </a:r>
          </a:p>
          <a:p>
            <a:pPr marL="342900" indent="-342900" algn="just">
              <a:lnSpc>
                <a:spcPct val="150000"/>
              </a:lnSpc>
              <a:buFont typeface="Wingdings" panose="05000000000000000000" pitchFamily="2" charset="2"/>
              <a:buChar char="Ø"/>
            </a:pPr>
            <a:r>
              <a:rPr lang="en-US" sz="2400" b="1" dirty="0"/>
              <a:t>Voltage Divider Ratio: </a:t>
            </a:r>
            <a:r>
              <a:rPr lang="en-US" sz="2400" dirty="0"/>
              <a:t>5:1</a:t>
            </a:r>
          </a:p>
          <a:p>
            <a:pPr algn="just">
              <a:lnSpc>
                <a:spcPct val="150000"/>
              </a:lnSpc>
            </a:pPr>
            <a:r>
              <a:rPr lang="en-US" sz="2400" i="1" dirty="0"/>
              <a:t>(R1 = 30k</a:t>
            </a:r>
            <a:r>
              <a:rPr lang="el-GR" sz="2400" i="1" dirty="0"/>
              <a:t>Ω, </a:t>
            </a:r>
            <a:r>
              <a:rPr lang="en-US" sz="2400" i="1" dirty="0"/>
              <a:t>R2 = 7.5k</a:t>
            </a:r>
            <a:r>
              <a:rPr lang="el-GR" sz="2400" i="1" dirty="0"/>
              <a:t>Ω)</a:t>
            </a:r>
            <a:endParaRPr lang="en-US" sz="2400" i="1" dirty="0"/>
          </a:p>
          <a:p>
            <a:pPr marL="342900" indent="-342900" algn="just">
              <a:lnSpc>
                <a:spcPct val="150000"/>
              </a:lnSpc>
              <a:buFont typeface="Wingdings" panose="05000000000000000000" pitchFamily="2" charset="2"/>
              <a:buChar char="Ø"/>
            </a:pPr>
            <a:r>
              <a:rPr lang="en-US" sz="2400" b="1" dirty="0"/>
              <a:t> Analog Voltage Resolution</a:t>
            </a:r>
          </a:p>
          <a:p>
            <a:pPr algn="just">
              <a:lnSpc>
                <a:spcPct val="150000"/>
              </a:lnSpc>
            </a:pPr>
            <a:r>
              <a:rPr lang="en-US" sz="2400" dirty="0"/>
              <a:t>       Depends on microcontroller ADC </a:t>
            </a:r>
          </a:p>
          <a:p>
            <a:pPr algn="just">
              <a:lnSpc>
                <a:spcPct val="150000"/>
              </a:lnSpc>
            </a:pPr>
            <a:r>
              <a:rPr lang="en-US" sz="2400" dirty="0"/>
              <a:t>     For ESP32 (12-bit ADC): </a:t>
            </a:r>
          </a:p>
          <a:p>
            <a:pPr lvl="1" algn="just">
              <a:lnSpc>
                <a:spcPct val="150000"/>
              </a:lnSpc>
            </a:pPr>
            <a:r>
              <a:rPr lang="en-US" sz="2400" b="1" dirty="0"/>
              <a:t>Resolution ≈ 0.006V (6 mV per step)</a:t>
            </a:r>
            <a:r>
              <a:rPr lang="en-US" sz="2400" dirty="0"/>
              <a:t> </a:t>
            </a:r>
          </a:p>
          <a:p>
            <a:pPr marL="342900" indent="-342900" algn="just">
              <a:lnSpc>
                <a:spcPct val="150000"/>
              </a:lnSpc>
              <a:buFont typeface="Wingdings" panose="05000000000000000000" pitchFamily="2" charset="2"/>
              <a:buChar char="Ø"/>
            </a:pPr>
            <a:r>
              <a:rPr lang="en-US" sz="2400" b="1" dirty="0"/>
              <a:t>Maximum Output Voltage</a:t>
            </a:r>
          </a:p>
          <a:p>
            <a:pPr algn="just">
              <a:lnSpc>
                <a:spcPct val="150000"/>
              </a:lnSpc>
            </a:pPr>
            <a:r>
              <a:rPr lang="en-US" sz="2400" b="1" dirty="0"/>
              <a:t>5V</a:t>
            </a:r>
            <a:r>
              <a:rPr lang="en-US" sz="2400" dirty="0"/>
              <a:t> </a:t>
            </a:r>
            <a:r>
              <a:rPr lang="en-US" sz="2400" i="1" dirty="0"/>
              <a:t>(when input is 25V)</a:t>
            </a:r>
          </a:p>
          <a:p>
            <a:pPr algn="just"/>
            <a:endParaRPr lang="en-US" dirty="0"/>
          </a:p>
          <a:p>
            <a:pPr algn="just"/>
            <a:endParaRPr lang="en-US" dirty="0"/>
          </a:p>
          <a:p>
            <a:pPr algn="just"/>
            <a:endParaRPr lang="en-US" dirty="0"/>
          </a:p>
        </p:txBody>
      </p:sp>
      <p:pic>
        <p:nvPicPr>
          <p:cNvPr id="20482" name="Picture 2" descr="Voltage Sensor Module DC 0-25 V&#10; – Robocraze"/>
          <p:cNvPicPr>
            <a:picLocks noChangeAspect="1" noChangeArrowheads="1"/>
          </p:cNvPicPr>
          <p:nvPr/>
        </p:nvPicPr>
        <p:blipFill>
          <a:blip r:embed="rId2"/>
          <a:srcRect/>
          <a:stretch>
            <a:fillRect/>
          </a:stretch>
        </p:blipFill>
        <p:spPr bwMode="auto">
          <a:xfrm>
            <a:off x="6381750" y="1905000"/>
            <a:ext cx="6400800" cy="4267200"/>
          </a:xfrm>
          <a:prstGeom prst="rect">
            <a:avLst/>
          </a:prstGeo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6DE10A-2158-AD4C-D2B9-969010308295}"/>
              </a:ext>
            </a:extLst>
          </p:cNvPr>
          <p:cNvSpPr>
            <a:spLocks noGrp="1"/>
          </p:cNvSpPr>
          <p:nvPr>
            <p:ph type="title"/>
          </p:nvPr>
        </p:nvSpPr>
        <p:spPr>
          <a:xfrm>
            <a:off x="2514600" y="228600"/>
            <a:ext cx="10111740" cy="492443"/>
          </a:xfrm>
        </p:spPr>
        <p:txBody>
          <a:bodyPr/>
          <a:lstStyle/>
          <a:p>
            <a:pPr algn="ctr"/>
            <a:r>
              <a:rPr lang="en-US" sz="3200" dirty="0"/>
              <a:t>5.ACS712 current sensor </a:t>
            </a:r>
            <a:endParaRPr lang="en-IN" sz="3200" dirty="0"/>
          </a:p>
        </p:txBody>
      </p:sp>
      <p:pic>
        <p:nvPicPr>
          <p:cNvPr id="5" name="Picture 4">
            <a:extLst>
              <a:ext uri="{FF2B5EF4-FFF2-40B4-BE49-F238E27FC236}">
                <a16:creationId xmlns:a16="http://schemas.microsoft.com/office/drawing/2014/main" id="{33F4D203-B77B-5A27-4A12-E5AC32B582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68000" y="2133600"/>
            <a:ext cx="3054350" cy="2832100"/>
          </a:xfrm>
          <a:prstGeom prst="rect">
            <a:avLst/>
          </a:prstGeom>
        </p:spPr>
      </p:pic>
      <p:sp>
        <p:nvSpPr>
          <p:cNvPr id="6" name="Rectangle 1">
            <a:extLst>
              <a:ext uri="{FF2B5EF4-FFF2-40B4-BE49-F238E27FC236}">
                <a16:creationId xmlns:a16="http://schemas.microsoft.com/office/drawing/2014/main" id="{1A691F2F-057D-A0E3-31DA-ADB5CC494059}"/>
              </a:ext>
            </a:extLst>
          </p:cNvPr>
          <p:cNvSpPr>
            <a:spLocks noGrp="1" noChangeArrowheads="1"/>
          </p:cNvSpPr>
          <p:nvPr>
            <p:ph type="body" idx="1"/>
          </p:nvPr>
        </p:nvSpPr>
        <p:spPr bwMode="auto">
          <a:xfrm>
            <a:off x="838200" y="685800"/>
            <a:ext cx="7848600" cy="72279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Supply Voltage (</a:t>
            </a:r>
            <a:r>
              <a:rPr kumimoji="0" lang="en-US" altLang="en-US" sz="2400" b="1"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Vcc</a:t>
            </a: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5V DC </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Current Detection Range: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ACS712-05B: ±5A </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ACS712-20A: ±20A </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ACS712-30A: ±30A </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Output Voltage Range: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0.5V to 4.5V (centered at 2.5V for 0A) </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Sensitivity: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185 mV/A (5A version) </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100 mV/A (20A version) </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66 mV/A (30A version) </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Measurement Type: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AC and DC current </a:t>
            </a:r>
          </a:p>
          <a:p>
            <a:pPr marL="342900" marR="0" lvl="0" indent="-342900" algn="just"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Isolation Voltage: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2.1 </a:t>
            </a:r>
            <a:r>
              <a:rPr kumimoji="0" lang="en-US" altLang="en-US" sz="24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kVRMS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(internal isolation) </a:t>
            </a:r>
          </a:p>
        </p:txBody>
      </p:sp>
    </p:spTree>
    <p:extLst>
      <p:ext uri="{BB962C8B-B14F-4D97-AF65-F5344CB8AC3E}">
        <p14:creationId xmlns:p14="http://schemas.microsoft.com/office/powerpoint/2010/main" val="36416061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71AFE1-8C9B-D0EF-32ED-93EA0D60C094}"/>
              </a:ext>
            </a:extLst>
          </p:cNvPr>
          <p:cNvSpPr>
            <a:spLocks noGrp="1"/>
          </p:cNvSpPr>
          <p:nvPr>
            <p:ph type="title"/>
          </p:nvPr>
        </p:nvSpPr>
        <p:spPr>
          <a:xfrm>
            <a:off x="2286000" y="457200"/>
            <a:ext cx="10111740" cy="492443"/>
          </a:xfrm>
        </p:spPr>
        <p:txBody>
          <a:bodyPr/>
          <a:lstStyle/>
          <a:p>
            <a:pPr algn="ctr"/>
            <a:r>
              <a:rPr lang="en-US" sz="3200" dirty="0"/>
              <a:t>6. L298N Motor Driver</a:t>
            </a:r>
            <a:endParaRPr lang="en-IN" sz="3200" dirty="0"/>
          </a:p>
        </p:txBody>
      </p:sp>
      <p:sp>
        <p:nvSpPr>
          <p:cNvPr id="3" name="Text Placeholder 2">
            <a:extLst>
              <a:ext uri="{FF2B5EF4-FFF2-40B4-BE49-F238E27FC236}">
                <a16:creationId xmlns:a16="http://schemas.microsoft.com/office/drawing/2014/main" id="{F49DBF04-F1AF-E263-B258-71799F946EE0}"/>
              </a:ext>
            </a:extLst>
          </p:cNvPr>
          <p:cNvSpPr>
            <a:spLocks noGrp="1"/>
          </p:cNvSpPr>
          <p:nvPr>
            <p:ph type="body" idx="1"/>
          </p:nvPr>
        </p:nvSpPr>
        <p:spPr>
          <a:xfrm>
            <a:off x="685800" y="1676400"/>
            <a:ext cx="9166859" cy="5539978"/>
          </a:xfrm>
        </p:spPr>
        <p:txBody>
          <a:bodyPr/>
          <a:lstStyle/>
          <a:p>
            <a:pPr marL="342900" indent="-342900" algn="just">
              <a:lnSpc>
                <a:spcPct val="150000"/>
              </a:lnSpc>
              <a:buFont typeface="Wingdings" panose="05000000000000000000" pitchFamily="2" charset="2"/>
              <a:buChar char="Ø"/>
            </a:pPr>
            <a:r>
              <a:rPr lang="en-IN" sz="2400" b="1" dirty="0"/>
              <a:t>Motor Channels: </a:t>
            </a:r>
            <a:r>
              <a:rPr lang="en-IN" sz="2400" dirty="0"/>
              <a:t>2 Channels (can drive two DC motors or one stepper motor).</a:t>
            </a:r>
          </a:p>
          <a:p>
            <a:pPr marL="342900" indent="-342900" algn="just">
              <a:lnSpc>
                <a:spcPct val="150000"/>
              </a:lnSpc>
              <a:buFont typeface="Wingdings" panose="05000000000000000000" pitchFamily="2" charset="2"/>
              <a:buChar char="Ø"/>
            </a:pPr>
            <a:r>
              <a:rPr lang="en-IN" sz="2400" b="1" dirty="0"/>
              <a:t>Motor Supply Voltage (): </a:t>
            </a:r>
            <a:r>
              <a:rPr lang="en-IN" sz="2400" dirty="0"/>
              <a:t>15V Max (recommended 2.5V ~ 13.5V).</a:t>
            </a:r>
          </a:p>
          <a:p>
            <a:pPr marL="342900" indent="-342900" algn="just">
              <a:lnSpc>
                <a:spcPct val="150000"/>
              </a:lnSpc>
              <a:buFont typeface="Wingdings" panose="05000000000000000000" pitchFamily="2" charset="2"/>
              <a:buChar char="Ø"/>
            </a:pPr>
            <a:r>
              <a:rPr lang="en-IN" sz="2400" b="1" dirty="0"/>
              <a:t>Logic Voltage (): </a:t>
            </a:r>
            <a:r>
              <a:rPr lang="en-IN" sz="2400" dirty="0"/>
              <a:t>2.7V to 5.5V.</a:t>
            </a:r>
          </a:p>
          <a:p>
            <a:pPr marL="342900" indent="-342900" algn="just">
              <a:lnSpc>
                <a:spcPct val="150000"/>
              </a:lnSpc>
              <a:buFont typeface="Wingdings" panose="05000000000000000000" pitchFamily="2" charset="2"/>
              <a:buChar char="Ø"/>
            </a:pPr>
            <a:r>
              <a:rPr lang="en-IN" sz="2400" b="1" dirty="0"/>
              <a:t>Continuous Output Current: </a:t>
            </a:r>
            <a:r>
              <a:rPr lang="en-IN" sz="2400" dirty="0"/>
              <a:t>1.2 A per channel.</a:t>
            </a:r>
          </a:p>
          <a:p>
            <a:pPr marL="342900" indent="-342900" algn="just">
              <a:lnSpc>
                <a:spcPct val="150000"/>
              </a:lnSpc>
              <a:buFont typeface="Wingdings" panose="05000000000000000000" pitchFamily="2" charset="2"/>
              <a:buChar char="Ø"/>
            </a:pPr>
            <a:r>
              <a:rPr lang="en-IN" sz="2400" b="1" dirty="0"/>
              <a:t>Peak Output Current</a:t>
            </a:r>
            <a:r>
              <a:rPr lang="en-IN" sz="2400" dirty="0"/>
              <a:t>: 3.2 A (single pulse).</a:t>
            </a:r>
          </a:p>
          <a:p>
            <a:pPr marL="342900" indent="-342900" algn="just">
              <a:lnSpc>
                <a:spcPct val="150000"/>
              </a:lnSpc>
              <a:buFont typeface="Wingdings" panose="05000000000000000000" pitchFamily="2" charset="2"/>
              <a:buChar char="Ø"/>
            </a:pPr>
            <a:r>
              <a:rPr lang="en-IN" sz="2400" b="1" dirty="0"/>
              <a:t>Output ON Resistor: </a:t>
            </a:r>
            <a:r>
              <a:rPr lang="en-IN" sz="2400" dirty="0"/>
              <a:t>0.5</a:t>
            </a:r>
            <a:r>
              <a:rPr lang="el-GR" sz="2400" dirty="0"/>
              <a:t>Ω (</a:t>
            </a:r>
            <a:r>
              <a:rPr lang="en-IN" sz="2400" dirty="0"/>
              <a:t>upper + lower typical @ ).</a:t>
            </a:r>
          </a:p>
          <a:p>
            <a:pPr marL="342900" indent="-342900" algn="just">
              <a:lnSpc>
                <a:spcPct val="150000"/>
              </a:lnSpc>
              <a:buFont typeface="Wingdings" panose="05000000000000000000" pitchFamily="2" charset="2"/>
              <a:buChar char="Ø"/>
            </a:pPr>
            <a:r>
              <a:rPr lang="en-IN" sz="2400" b="1" dirty="0"/>
              <a:t>PWM Frequency</a:t>
            </a:r>
            <a:r>
              <a:rPr lang="en-IN" sz="2400" dirty="0"/>
              <a:t>: Up to 100 kHz.</a:t>
            </a:r>
          </a:p>
          <a:p>
            <a:pPr marL="342900" indent="-342900" algn="just">
              <a:lnSpc>
                <a:spcPct val="150000"/>
              </a:lnSpc>
              <a:buFont typeface="Wingdings" panose="05000000000000000000" pitchFamily="2" charset="2"/>
              <a:buChar char="Ø"/>
            </a:pPr>
            <a:r>
              <a:rPr lang="en-IN" sz="2400" dirty="0"/>
              <a:t>Op</a:t>
            </a:r>
            <a:r>
              <a:rPr lang="en-IN" sz="2400" b="1" dirty="0"/>
              <a:t>erating Temperature: </a:t>
            </a:r>
            <a:r>
              <a:rPr lang="en-IN" sz="2400" dirty="0"/>
              <a:t>-20°C to 85°C. </a:t>
            </a:r>
          </a:p>
          <a:p>
            <a:pPr marL="342900" indent="-342900" algn="just">
              <a:lnSpc>
                <a:spcPct val="150000"/>
              </a:lnSpc>
              <a:buFont typeface="Wingdings" panose="05000000000000000000" pitchFamily="2" charset="2"/>
              <a:buChar char="Ø"/>
            </a:pPr>
            <a:r>
              <a:rPr lang="en-IN" sz="2400" b="1" dirty="0" err="1"/>
              <a:t>SparkFun</a:t>
            </a:r>
            <a:r>
              <a:rPr lang="en-IN" sz="2400" b="1" dirty="0"/>
              <a:t> Electronics: </a:t>
            </a:r>
            <a:r>
              <a:rPr lang="en-IN" sz="2400" dirty="0" err="1"/>
              <a:t>SparkFun</a:t>
            </a:r>
            <a:r>
              <a:rPr lang="en-IN" sz="2400" dirty="0"/>
              <a:t> Electronics +5</a:t>
            </a:r>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53600" y="2286000"/>
            <a:ext cx="4309028" cy="4114800"/>
          </a:xfrm>
          <a:prstGeom prst="rect">
            <a:avLst/>
          </a:prstGeom>
        </p:spPr>
      </p:pic>
    </p:spTree>
    <p:extLst>
      <p:ext uri="{BB962C8B-B14F-4D97-AF65-F5344CB8AC3E}">
        <p14:creationId xmlns:p14="http://schemas.microsoft.com/office/powerpoint/2010/main" val="41163846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8E01A9-B453-829A-67F2-4295674B6918}"/>
              </a:ext>
            </a:extLst>
          </p:cNvPr>
          <p:cNvSpPr>
            <a:spLocks noGrp="1"/>
          </p:cNvSpPr>
          <p:nvPr>
            <p:ph type="title"/>
          </p:nvPr>
        </p:nvSpPr>
        <p:spPr>
          <a:xfrm>
            <a:off x="2489835" y="252666"/>
            <a:ext cx="10111740" cy="492443"/>
          </a:xfrm>
        </p:spPr>
        <p:txBody>
          <a:bodyPr/>
          <a:lstStyle/>
          <a:p>
            <a:pPr algn="ctr"/>
            <a:r>
              <a:rPr lang="en-US" sz="3200" dirty="0"/>
              <a:t>7. Motor</a:t>
            </a:r>
            <a:endParaRPr lang="en-IN" sz="3200" dirty="0"/>
          </a:p>
        </p:txBody>
      </p:sp>
      <p:sp>
        <p:nvSpPr>
          <p:cNvPr id="3" name="Text Placeholder 2">
            <a:extLst>
              <a:ext uri="{FF2B5EF4-FFF2-40B4-BE49-F238E27FC236}">
                <a16:creationId xmlns:a16="http://schemas.microsoft.com/office/drawing/2014/main" id="{54DB618A-D959-CD7A-F16C-C95FBF757E2F}"/>
              </a:ext>
            </a:extLst>
          </p:cNvPr>
          <p:cNvSpPr>
            <a:spLocks noGrp="1"/>
          </p:cNvSpPr>
          <p:nvPr>
            <p:ph type="body" idx="1"/>
          </p:nvPr>
        </p:nvSpPr>
        <p:spPr>
          <a:xfrm>
            <a:off x="662940" y="1898332"/>
            <a:ext cx="13639165" cy="4365619"/>
          </a:xfrm>
        </p:spPr>
        <p:txBody>
          <a:bodyPr/>
          <a:lstStyle/>
          <a:p>
            <a:pPr marL="342900" indent="-342900" algn="just">
              <a:lnSpc>
                <a:spcPct val="150000"/>
              </a:lnSpc>
              <a:buFont typeface="Wingdings" panose="05000000000000000000" pitchFamily="2" charset="2"/>
              <a:buChar char="Ø"/>
            </a:pPr>
            <a:r>
              <a:rPr lang="en-IN" sz="2400" b="1" dirty="0"/>
              <a:t>Rated speed</a:t>
            </a:r>
            <a:r>
              <a:rPr lang="en-IN" sz="2400" dirty="0"/>
              <a:t>: 600 RPM (no-load)</a:t>
            </a:r>
          </a:p>
          <a:p>
            <a:pPr marL="342900" indent="-342900" algn="just">
              <a:lnSpc>
                <a:spcPct val="150000"/>
              </a:lnSpc>
              <a:buFont typeface="Wingdings" panose="05000000000000000000" pitchFamily="2" charset="2"/>
              <a:buChar char="Ø"/>
            </a:pPr>
            <a:r>
              <a:rPr lang="en-IN" sz="2400" b="1" dirty="0"/>
              <a:t>Operating voltage: </a:t>
            </a:r>
            <a:r>
              <a:rPr lang="en-IN" sz="2400" dirty="0"/>
              <a:t>6V – 12V DC (commonly 12V)</a:t>
            </a:r>
          </a:p>
          <a:p>
            <a:pPr marL="342900" indent="-342900" algn="just">
              <a:lnSpc>
                <a:spcPct val="150000"/>
              </a:lnSpc>
              <a:buFont typeface="Wingdings" panose="05000000000000000000" pitchFamily="2" charset="2"/>
              <a:buChar char="Ø"/>
            </a:pPr>
            <a:r>
              <a:rPr lang="en-IN" sz="2400" b="1" dirty="0"/>
              <a:t>Type: </a:t>
            </a:r>
            <a:r>
              <a:rPr lang="en-IN" sz="2400" dirty="0"/>
              <a:t>Brushed DC motor with gearbox</a:t>
            </a:r>
          </a:p>
          <a:p>
            <a:pPr marL="342900" indent="-342900" algn="just">
              <a:lnSpc>
                <a:spcPct val="150000"/>
              </a:lnSpc>
              <a:buFont typeface="Wingdings" panose="05000000000000000000" pitchFamily="2" charset="2"/>
              <a:buChar char="Ø"/>
            </a:pPr>
            <a:r>
              <a:rPr lang="en-IN" sz="2400" b="1" dirty="0"/>
              <a:t>Torque:</a:t>
            </a:r>
            <a:r>
              <a:rPr lang="en-IN" sz="2400" dirty="0"/>
              <a:t> High torque (due to gear reduction)</a:t>
            </a:r>
          </a:p>
          <a:p>
            <a:pPr marL="342900" indent="-342900" algn="just">
              <a:lnSpc>
                <a:spcPct val="150000"/>
              </a:lnSpc>
              <a:buFont typeface="Wingdings" panose="05000000000000000000" pitchFamily="2" charset="2"/>
              <a:buChar char="Ø"/>
            </a:pPr>
            <a:r>
              <a:rPr lang="en-IN" sz="2400" b="1" dirty="0"/>
              <a:t>Current </a:t>
            </a:r>
            <a:r>
              <a:rPr lang="en-IN" sz="2400" b="1" dirty="0" err="1"/>
              <a:t>consumption:</a:t>
            </a:r>
            <a:r>
              <a:rPr lang="en-IN" sz="2400" dirty="0" err="1"/>
              <a:t>No-load</a:t>
            </a:r>
            <a:r>
              <a:rPr lang="en-IN" sz="2400" dirty="0"/>
              <a:t>: ~100–300 </a:t>
            </a:r>
            <a:r>
              <a:rPr lang="en-IN" sz="2400" dirty="0" err="1"/>
              <a:t>mAFull</a:t>
            </a:r>
            <a:r>
              <a:rPr lang="en-IN" sz="2400" dirty="0"/>
              <a:t>-load: ~1–2 A</a:t>
            </a:r>
          </a:p>
          <a:p>
            <a:pPr marL="342900" indent="-342900" algn="just">
              <a:lnSpc>
                <a:spcPct val="150000"/>
              </a:lnSpc>
              <a:buFont typeface="Wingdings" panose="05000000000000000000" pitchFamily="2" charset="2"/>
              <a:buChar char="Ø"/>
            </a:pPr>
            <a:r>
              <a:rPr lang="en-IN" sz="2400" b="1" dirty="0"/>
              <a:t>Shaft type: </a:t>
            </a:r>
            <a:r>
              <a:rPr lang="en-IN" sz="2400" dirty="0"/>
              <a:t>Metal shaft (D-type for better grip)</a:t>
            </a:r>
          </a:p>
          <a:p>
            <a:pPr marL="342900" indent="-342900" algn="just">
              <a:lnSpc>
                <a:spcPct val="150000"/>
              </a:lnSpc>
              <a:buFont typeface="Wingdings" panose="05000000000000000000" pitchFamily="2" charset="2"/>
              <a:buChar char="Ø"/>
            </a:pPr>
            <a:r>
              <a:rPr lang="en-IN" sz="2400" b="1" dirty="0"/>
              <a:t>Rotation: </a:t>
            </a:r>
            <a:r>
              <a:rPr lang="en-IN" sz="2400" dirty="0"/>
              <a:t>Bidirectional (CW &amp; CCW)</a:t>
            </a:r>
          </a:p>
          <a:p>
            <a:pPr marL="342900" indent="-342900" algn="just">
              <a:lnSpc>
                <a:spcPct val="150000"/>
              </a:lnSpc>
              <a:buFont typeface="Wingdings" panose="05000000000000000000" pitchFamily="2" charset="2"/>
              <a:buChar char="Ø"/>
            </a:pPr>
            <a:r>
              <a:rPr lang="en-IN" sz="2400" b="1" dirty="0"/>
              <a:t>Applications: </a:t>
            </a:r>
            <a:r>
              <a:rPr lang="en-IN" sz="2400" dirty="0"/>
              <a:t>Robotics, line followers, automated vehicles, conveyors</a:t>
            </a:r>
          </a:p>
        </p:txBody>
      </p:sp>
      <p:pic>
        <p:nvPicPr>
          <p:cNvPr id="2050" name="Picture 2" descr="N20-12V-300 Rpm Micro Metal Gear Motor ...">
            <a:extLst>
              <a:ext uri="{FF2B5EF4-FFF2-40B4-BE49-F238E27FC236}">
                <a16:creationId xmlns:a16="http://schemas.microsoft.com/office/drawing/2014/main" id="{CA35595E-2983-DA2C-2914-8D0D530F74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82200" y="1751464"/>
            <a:ext cx="3734936" cy="3734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11772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2FD4A-E43E-7781-3AAF-FDCA0DABF33E}"/>
              </a:ext>
            </a:extLst>
          </p:cNvPr>
          <p:cNvSpPr>
            <a:spLocks noGrp="1"/>
          </p:cNvSpPr>
          <p:nvPr>
            <p:ph type="title"/>
          </p:nvPr>
        </p:nvSpPr>
        <p:spPr>
          <a:xfrm>
            <a:off x="2489835" y="252666"/>
            <a:ext cx="10111740" cy="492443"/>
          </a:xfrm>
        </p:spPr>
        <p:txBody>
          <a:bodyPr/>
          <a:lstStyle/>
          <a:p>
            <a:pPr algn="ctr"/>
            <a:r>
              <a:rPr lang="en-US" sz="3200" dirty="0"/>
              <a:t>8. PCB Board</a:t>
            </a:r>
            <a:endParaRPr lang="en-IN" sz="3200" dirty="0"/>
          </a:p>
        </p:txBody>
      </p:sp>
      <p:sp>
        <p:nvSpPr>
          <p:cNvPr id="3" name="Text Placeholder 2">
            <a:extLst>
              <a:ext uri="{FF2B5EF4-FFF2-40B4-BE49-F238E27FC236}">
                <a16:creationId xmlns:a16="http://schemas.microsoft.com/office/drawing/2014/main" id="{92328E45-68D9-911A-CEE6-41C66FD9D97D}"/>
              </a:ext>
            </a:extLst>
          </p:cNvPr>
          <p:cNvSpPr>
            <a:spLocks noGrp="1"/>
          </p:cNvSpPr>
          <p:nvPr>
            <p:ph type="body" idx="1"/>
          </p:nvPr>
        </p:nvSpPr>
        <p:spPr>
          <a:xfrm>
            <a:off x="1066800" y="2209800"/>
            <a:ext cx="8382000" cy="1595630"/>
          </a:xfrm>
        </p:spPr>
        <p:txBody>
          <a:bodyPr/>
          <a:lstStyle/>
          <a:p>
            <a:pPr marL="342900" indent="-342900" algn="just">
              <a:lnSpc>
                <a:spcPct val="150000"/>
              </a:lnSpc>
              <a:buFont typeface="Wingdings" panose="05000000000000000000" pitchFamily="2" charset="2"/>
              <a:buChar char="Ø"/>
            </a:pPr>
            <a:r>
              <a:rPr lang="en-IN" sz="2400" b="1" dirty="0"/>
              <a:t>Material: </a:t>
            </a:r>
            <a:r>
              <a:rPr lang="en-IN" sz="2400" dirty="0"/>
              <a:t>FR4 (Fiberglass epoxy – most common)</a:t>
            </a:r>
          </a:p>
          <a:p>
            <a:pPr marL="342900" indent="-342900" algn="just">
              <a:lnSpc>
                <a:spcPct val="150000"/>
              </a:lnSpc>
              <a:buFont typeface="Wingdings" panose="05000000000000000000" pitchFamily="2" charset="2"/>
              <a:buChar char="Ø"/>
            </a:pPr>
            <a:r>
              <a:rPr lang="en-IN" sz="2400" b="1" dirty="0"/>
              <a:t>Board type: </a:t>
            </a:r>
            <a:r>
              <a:rPr lang="en-IN" sz="2400" dirty="0"/>
              <a:t>Single-layer / Double-layer / Multi-layer</a:t>
            </a:r>
          </a:p>
          <a:p>
            <a:pPr marL="342900" indent="-342900" algn="just">
              <a:lnSpc>
                <a:spcPct val="150000"/>
              </a:lnSpc>
              <a:buFont typeface="Wingdings" panose="05000000000000000000" pitchFamily="2" charset="2"/>
              <a:buChar char="Ø"/>
            </a:pPr>
            <a:r>
              <a:rPr lang="en-IN" sz="2400" b="1" dirty="0"/>
              <a:t>Thickness: </a:t>
            </a:r>
            <a:r>
              <a:rPr lang="en-IN" sz="2400" dirty="0"/>
              <a:t>Typically 1.6 mm (standard)</a:t>
            </a:r>
          </a:p>
        </p:txBody>
      </p:sp>
      <p:pic>
        <p:nvPicPr>
          <p:cNvPr id="6" name="Picture 5" descr="7 x 9cm PCB Double Side Prototype DIY Universal Printed Circuit PCB Board  Protoboard For DIY Soldering - RS2342">
            <a:extLst>
              <a:ext uri="{FF2B5EF4-FFF2-40B4-BE49-F238E27FC236}">
                <a16:creationId xmlns:a16="http://schemas.microsoft.com/office/drawing/2014/main" id="{62146637-0349-0D68-8E28-0F24F5A873DA}"/>
              </a:ext>
            </a:extLst>
          </p:cNvPr>
          <p:cNvPicPr>
            <a:picLocks noChangeAspect="1"/>
          </p:cNvPicPr>
          <p:nvPr/>
        </p:nvPicPr>
        <p:blipFill>
          <a:blip r:embed="rId2"/>
          <a:stretch>
            <a:fillRect/>
          </a:stretch>
        </p:blipFill>
        <p:spPr>
          <a:xfrm>
            <a:off x="9677400" y="2101171"/>
            <a:ext cx="3505200" cy="3505200"/>
          </a:xfrm>
          <a:prstGeom prst="rect">
            <a:avLst/>
          </a:prstGeom>
        </p:spPr>
      </p:pic>
    </p:spTree>
    <p:extLst>
      <p:ext uri="{BB962C8B-B14F-4D97-AF65-F5344CB8AC3E}">
        <p14:creationId xmlns:p14="http://schemas.microsoft.com/office/powerpoint/2010/main" val="14854005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4600" y="381000"/>
            <a:ext cx="10111740" cy="492443"/>
          </a:xfrm>
        </p:spPr>
        <p:txBody>
          <a:bodyPr/>
          <a:lstStyle/>
          <a:p>
            <a:pPr algn="ctr"/>
            <a:r>
              <a:rPr lang="en-US" sz="3200" dirty="0"/>
              <a:t>SOFTWARE REQUIREMENT</a:t>
            </a:r>
          </a:p>
        </p:txBody>
      </p:sp>
      <p:sp>
        <p:nvSpPr>
          <p:cNvPr id="3" name="Text Placeholder 2"/>
          <p:cNvSpPr>
            <a:spLocks noGrp="1"/>
          </p:cNvSpPr>
          <p:nvPr>
            <p:ph type="body" idx="1"/>
          </p:nvPr>
        </p:nvSpPr>
        <p:spPr>
          <a:xfrm>
            <a:off x="1219200" y="1898332"/>
            <a:ext cx="12115800" cy="5011949"/>
          </a:xfrm>
        </p:spPr>
        <p:txBody>
          <a:bodyPr/>
          <a:lstStyle/>
          <a:p>
            <a:pPr>
              <a:lnSpc>
                <a:spcPct val="150000"/>
              </a:lnSpc>
              <a:buFont typeface="Wingdings" pitchFamily="2" charset="2"/>
              <a:buChar char="Ø"/>
            </a:pPr>
            <a:r>
              <a:rPr lang="en-US" sz="2400" dirty="0" err="1"/>
              <a:t>Arduino</a:t>
            </a:r>
            <a:r>
              <a:rPr lang="en-US" sz="2400" dirty="0"/>
              <a:t> IDE</a:t>
            </a:r>
          </a:p>
          <a:p>
            <a:pPr>
              <a:lnSpc>
                <a:spcPct val="150000"/>
              </a:lnSpc>
              <a:buFont typeface="Wingdings" pitchFamily="2" charset="2"/>
              <a:buChar char="Ø"/>
            </a:pPr>
            <a:r>
              <a:rPr lang="en-US" sz="2400" dirty="0"/>
              <a:t>Expo Go</a:t>
            </a:r>
          </a:p>
          <a:p>
            <a:pPr>
              <a:lnSpc>
                <a:spcPct val="150000"/>
              </a:lnSpc>
              <a:buFont typeface="Wingdings" pitchFamily="2" charset="2"/>
              <a:buChar char="Ø"/>
            </a:pPr>
            <a:r>
              <a:rPr lang="en-US" sz="2400" dirty="0" err="1"/>
              <a:t>Postgre</a:t>
            </a:r>
            <a:r>
              <a:rPr lang="en-US" sz="2400" dirty="0"/>
              <a:t> SQL</a:t>
            </a:r>
          </a:p>
          <a:p>
            <a:pPr>
              <a:lnSpc>
                <a:spcPct val="150000"/>
              </a:lnSpc>
              <a:buFont typeface="Wingdings" pitchFamily="2" charset="2"/>
              <a:buChar char="Ø"/>
            </a:pPr>
            <a:r>
              <a:rPr lang="en-US" sz="2400" dirty="0"/>
              <a:t>Visual studio</a:t>
            </a:r>
          </a:p>
          <a:p>
            <a:pPr>
              <a:lnSpc>
                <a:spcPct val="150000"/>
              </a:lnSpc>
              <a:buFont typeface="Wingdings" pitchFamily="2" charset="2"/>
              <a:buChar char="Ø"/>
            </a:pPr>
            <a:r>
              <a:rPr lang="en-US" sz="2400" dirty="0" err="1"/>
              <a:t>Cirkit</a:t>
            </a:r>
            <a:r>
              <a:rPr lang="en-US" sz="2400" dirty="0"/>
              <a:t> Designer</a:t>
            </a:r>
          </a:p>
          <a:p>
            <a:pPr>
              <a:lnSpc>
                <a:spcPct val="150000"/>
              </a:lnSpc>
              <a:buFont typeface="Wingdings" pitchFamily="2" charset="2"/>
              <a:buChar char="Ø"/>
            </a:pPr>
            <a:r>
              <a:rPr lang="en-IN" sz="2400" dirty="0" err="1"/>
              <a:t>pgAdmin</a:t>
            </a:r>
            <a:r>
              <a:rPr lang="en-IN" sz="2400" dirty="0"/>
              <a:t> 4</a:t>
            </a:r>
            <a:endParaRPr lang="en-US" sz="2400" dirty="0"/>
          </a:p>
          <a:p>
            <a:pPr>
              <a:lnSpc>
                <a:spcPct val="150000"/>
              </a:lnSpc>
              <a:buFont typeface="Wingdings" pitchFamily="2" charset="2"/>
              <a:buChar char="Ø"/>
            </a:pPr>
            <a:endParaRPr lang="en-US" sz="2400" dirty="0"/>
          </a:p>
          <a:p>
            <a:pPr>
              <a:lnSpc>
                <a:spcPct val="150000"/>
              </a:lnSpc>
            </a:pPr>
            <a:r>
              <a:rPr lang="en-US" sz="2800" b="1" dirty="0"/>
              <a:t>ML Model</a:t>
            </a:r>
          </a:p>
          <a:p>
            <a:pPr>
              <a:lnSpc>
                <a:spcPct val="150000"/>
              </a:lnSpc>
            </a:pPr>
            <a:r>
              <a:rPr lang="en-IN" sz="2400" b="1" dirty="0"/>
              <a:t>Linear Regression </a:t>
            </a:r>
            <a:r>
              <a:rPr lang="en-IN" sz="2400" dirty="0"/>
              <a:t>for</a:t>
            </a:r>
            <a:r>
              <a:rPr lang="en-IN" sz="2400" b="1" dirty="0"/>
              <a:t> </a:t>
            </a:r>
            <a:r>
              <a:rPr lang="en-IN" sz="2400" dirty="0"/>
              <a:t>Power Forecast ,Cleaning Prediction</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FA8EF0-11BF-C37D-98AF-D14F10B61E64}"/>
              </a:ext>
            </a:extLst>
          </p:cNvPr>
          <p:cNvSpPr>
            <a:spLocks noGrp="1"/>
          </p:cNvSpPr>
          <p:nvPr>
            <p:ph type="title"/>
          </p:nvPr>
        </p:nvSpPr>
        <p:spPr>
          <a:xfrm>
            <a:off x="762000" y="228600"/>
            <a:ext cx="13563600" cy="492443"/>
          </a:xfrm>
        </p:spPr>
        <p:txBody>
          <a:bodyPr/>
          <a:lstStyle/>
          <a:p>
            <a:pPr algn="ctr"/>
            <a:r>
              <a:rPr lang="en-US" sz="3200" dirty="0"/>
              <a:t>ADVANTAGES</a:t>
            </a:r>
            <a:endParaRPr lang="en-IN" sz="3200" dirty="0"/>
          </a:p>
        </p:txBody>
      </p:sp>
      <p:sp>
        <p:nvSpPr>
          <p:cNvPr id="3" name="Text Placeholder 2">
            <a:extLst>
              <a:ext uri="{FF2B5EF4-FFF2-40B4-BE49-F238E27FC236}">
                <a16:creationId xmlns:a16="http://schemas.microsoft.com/office/drawing/2014/main" id="{679164D4-1D8D-D1C4-4E87-FCDB07D1AE11}"/>
              </a:ext>
            </a:extLst>
          </p:cNvPr>
          <p:cNvSpPr>
            <a:spLocks noGrp="1"/>
          </p:cNvSpPr>
          <p:nvPr>
            <p:ph type="body" idx="1"/>
          </p:nvPr>
        </p:nvSpPr>
        <p:spPr>
          <a:xfrm>
            <a:off x="685800" y="914400"/>
            <a:ext cx="9677400" cy="6858000"/>
          </a:xfrm>
        </p:spPr>
        <p:txBody>
          <a:bodyPr/>
          <a:lstStyle/>
          <a:p>
            <a:pPr marL="342900" indent="-342900" algn="just">
              <a:lnSpc>
                <a:spcPct val="150000"/>
              </a:lnSpc>
              <a:buFont typeface="Wingdings" panose="05000000000000000000" pitchFamily="2" charset="2"/>
              <a:buChar char="Ø"/>
            </a:pPr>
            <a:r>
              <a:rPr lang="en-US" sz="2400" b="1" dirty="0"/>
              <a:t>Improved Efficiency</a:t>
            </a:r>
            <a:r>
              <a:rPr lang="en-US" sz="2400" dirty="0"/>
              <a:t> — AI triggers cleaning only when AQI exceeds the threshold, keeping panels efficient while avoiding unnecessary cleaning. </a:t>
            </a:r>
          </a:p>
          <a:p>
            <a:pPr marL="342900" indent="-342900" algn="just">
              <a:lnSpc>
                <a:spcPct val="150000"/>
              </a:lnSpc>
              <a:buFont typeface="Wingdings" panose="05000000000000000000" pitchFamily="2" charset="2"/>
              <a:buChar char="Ø"/>
            </a:pPr>
            <a:r>
              <a:rPr lang="en-US" sz="2400" b="1" dirty="0"/>
              <a:t>Water Conservation</a:t>
            </a:r>
            <a:r>
              <a:rPr lang="en-US" sz="2400" dirty="0"/>
              <a:t> — Water spray activates only during required cleaning cycles, reducing wastage. </a:t>
            </a:r>
          </a:p>
          <a:p>
            <a:pPr marL="342900" indent="-342900" algn="just">
              <a:lnSpc>
                <a:spcPct val="150000"/>
              </a:lnSpc>
              <a:buFont typeface="Wingdings" panose="05000000000000000000" pitchFamily="2" charset="2"/>
              <a:buChar char="Ø"/>
            </a:pPr>
            <a:r>
              <a:rPr lang="en-US" sz="2400" b="1" dirty="0"/>
              <a:t>Reduced Maintenance Cost</a:t>
            </a:r>
            <a:r>
              <a:rPr lang="en-US" sz="2400" dirty="0"/>
              <a:t> — Autonomous cleaning lowers manual labor and inspection costs. </a:t>
            </a:r>
          </a:p>
          <a:p>
            <a:pPr marL="342900" indent="-342900" algn="just">
              <a:lnSpc>
                <a:spcPct val="150000"/>
              </a:lnSpc>
              <a:buFont typeface="Wingdings" panose="05000000000000000000" pitchFamily="2" charset="2"/>
              <a:buChar char="Ø"/>
            </a:pPr>
            <a:r>
              <a:rPr lang="en-US" sz="2400" b="1" dirty="0"/>
              <a:t>Increased Energy Generation</a:t>
            </a:r>
            <a:r>
              <a:rPr lang="en-US" sz="2400" dirty="0"/>
              <a:t> — Clean panels absorb more sunlight, improving power output. </a:t>
            </a:r>
          </a:p>
          <a:p>
            <a:pPr marL="342900" indent="-342900" algn="just">
              <a:lnSpc>
                <a:spcPct val="150000"/>
              </a:lnSpc>
              <a:buFont typeface="Wingdings" panose="05000000000000000000" pitchFamily="2" charset="2"/>
              <a:buChar char="Ø"/>
            </a:pPr>
            <a:r>
              <a:rPr lang="en-US" sz="2400" b="1" dirty="0"/>
              <a:t>Real-Time Monitoring</a:t>
            </a:r>
            <a:r>
              <a:rPr lang="en-US" sz="2400" dirty="0"/>
              <a:t> — Voltage, current, power, and energy data are updated every five seconds in the mobile app. </a:t>
            </a:r>
          </a:p>
          <a:p>
            <a:pPr marL="342900" indent="-342900" algn="just">
              <a:lnSpc>
                <a:spcPct val="150000"/>
              </a:lnSpc>
              <a:buFont typeface="Wingdings" panose="05000000000000000000" pitchFamily="2" charset="2"/>
              <a:buChar char="Ø"/>
            </a:pPr>
            <a:r>
              <a:rPr lang="en-US" sz="2400" b="1" dirty="0"/>
              <a:t>Eco-Friendly Operation</a:t>
            </a:r>
            <a:r>
              <a:rPr lang="en-US" sz="2400" dirty="0"/>
              <a:t> — Uses minimal water, avoids chemicals, and supports sustainable energy generation.</a:t>
            </a:r>
            <a:endParaRPr lang="en-IN" sz="2400" dirty="0"/>
          </a:p>
        </p:txBody>
      </p:sp>
      <p:pic>
        <p:nvPicPr>
          <p:cNvPr id="4" name="Picture 3" descr="Solar Panel Cleaning Robots By Fabtru">
            <a:extLst>
              <a:ext uri="{FF2B5EF4-FFF2-40B4-BE49-F238E27FC236}">
                <a16:creationId xmlns:a16="http://schemas.microsoft.com/office/drawing/2014/main" id="{13B9B7BF-978D-1375-CBFA-4AA92E29FB74}"/>
              </a:ext>
            </a:extLst>
          </p:cNvPr>
          <p:cNvPicPr>
            <a:picLocks noChangeAspect="1"/>
          </p:cNvPicPr>
          <p:nvPr/>
        </p:nvPicPr>
        <p:blipFill>
          <a:blip r:embed="rId2" cstate="print"/>
          <a:stretch>
            <a:fillRect/>
          </a:stretch>
        </p:blipFill>
        <p:spPr>
          <a:xfrm>
            <a:off x="10744200" y="1981200"/>
            <a:ext cx="3682365" cy="3528933"/>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 name="TextBox 7">
            <a:extLst>
              <a:ext uri="{FF2B5EF4-FFF2-40B4-BE49-F238E27FC236}">
                <a16:creationId xmlns:a16="http://schemas.microsoft.com/office/drawing/2014/main" id="{0C90145F-4924-370E-C9EB-2C200179F4B7}"/>
              </a:ext>
            </a:extLst>
          </p:cNvPr>
          <p:cNvSpPr txBox="1"/>
          <p:nvPr/>
        </p:nvSpPr>
        <p:spPr>
          <a:xfrm>
            <a:off x="3657600" y="3930134"/>
            <a:ext cx="7315200" cy="369332"/>
          </a:xfrm>
          <a:prstGeom prst="rect">
            <a:avLst/>
          </a:prstGeom>
          <a:noFill/>
        </p:spPr>
        <p:txBody>
          <a:bodyPr wrap="square">
            <a:spAutoFit/>
          </a:bodyPr>
          <a:lstStyle/>
          <a:p>
            <a:endParaRPr lang="en-IN" dirty="0"/>
          </a:p>
        </p:txBody>
      </p:sp>
      <p:sp>
        <p:nvSpPr>
          <p:cNvPr id="10" name="TextBox 9">
            <a:extLst>
              <a:ext uri="{FF2B5EF4-FFF2-40B4-BE49-F238E27FC236}">
                <a16:creationId xmlns:a16="http://schemas.microsoft.com/office/drawing/2014/main" id="{74ADB473-ED2B-A835-8FA8-BFDB72A74FBD}"/>
              </a:ext>
            </a:extLst>
          </p:cNvPr>
          <p:cNvSpPr txBox="1"/>
          <p:nvPr/>
        </p:nvSpPr>
        <p:spPr>
          <a:xfrm>
            <a:off x="3657600" y="3930134"/>
            <a:ext cx="7315200" cy="369332"/>
          </a:xfrm>
          <a:prstGeom prst="rect">
            <a:avLst/>
          </a:prstGeom>
          <a:noFill/>
        </p:spPr>
        <p:txBody>
          <a:bodyPr wrap="square">
            <a:spAutoFit/>
          </a:bodyPr>
          <a:lstStyle/>
          <a:p>
            <a:endParaRPr lang="en-IN" dirty="0"/>
          </a:p>
        </p:txBody>
      </p:sp>
      <p:sp>
        <p:nvSpPr>
          <p:cNvPr id="12" name="TextBox 11">
            <a:extLst>
              <a:ext uri="{FF2B5EF4-FFF2-40B4-BE49-F238E27FC236}">
                <a16:creationId xmlns:a16="http://schemas.microsoft.com/office/drawing/2014/main" id="{80610CCD-CB5E-BF69-644E-1A3B5879497D}"/>
              </a:ext>
            </a:extLst>
          </p:cNvPr>
          <p:cNvSpPr txBox="1"/>
          <p:nvPr/>
        </p:nvSpPr>
        <p:spPr>
          <a:xfrm>
            <a:off x="3657600" y="3930134"/>
            <a:ext cx="7315200" cy="369332"/>
          </a:xfrm>
          <a:prstGeom prst="rect">
            <a:avLst/>
          </a:prstGeom>
          <a:noFill/>
        </p:spPr>
        <p:txBody>
          <a:bodyPr wrap="square">
            <a:spAutoFit/>
          </a:bodyPr>
          <a:lstStyle/>
          <a:p>
            <a:endParaRPr lang="en-IN" dirty="0"/>
          </a:p>
        </p:txBody>
      </p:sp>
      <p:sp>
        <p:nvSpPr>
          <p:cNvPr id="14" name="TextBox 13">
            <a:extLst>
              <a:ext uri="{FF2B5EF4-FFF2-40B4-BE49-F238E27FC236}">
                <a16:creationId xmlns:a16="http://schemas.microsoft.com/office/drawing/2014/main" id="{F5277231-7A30-1B9C-2F61-C908304613D7}"/>
              </a:ext>
            </a:extLst>
          </p:cNvPr>
          <p:cNvSpPr txBox="1"/>
          <p:nvPr/>
        </p:nvSpPr>
        <p:spPr>
          <a:xfrm>
            <a:off x="3657600" y="3930134"/>
            <a:ext cx="7315200" cy="369332"/>
          </a:xfrm>
          <a:prstGeom prst="rect">
            <a:avLst/>
          </a:prstGeom>
          <a:noFill/>
        </p:spPr>
        <p:txBody>
          <a:bodyPr wrap="square">
            <a:spAutoFit/>
          </a:bodyPr>
          <a:lstStyle/>
          <a:p>
            <a:endParaRPr lang="en-IN" dirty="0"/>
          </a:p>
        </p:txBody>
      </p:sp>
      <p:sp>
        <p:nvSpPr>
          <p:cNvPr id="16" name="TextBox 15">
            <a:extLst>
              <a:ext uri="{FF2B5EF4-FFF2-40B4-BE49-F238E27FC236}">
                <a16:creationId xmlns:a16="http://schemas.microsoft.com/office/drawing/2014/main" id="{A76E1498-92B6-5267-0EBE-9FA937191D27}"/>
              </a:ext>
            </a:extLst>
          </p:cNvPr>
          <p:cNvSpPr txBox="1"/>
          <p:nvPr/>
        </p:nvSpPr>
        <p:spPr>
          <a:xfrm>
            <a:off x="3657600" y="3930134"/>
            <a:ext cx="7315200" cy="369332"/>
          </a:xfrm>
          <a:prstGeom prst="rect">
            <a:avLst/>
          </a:prstGeom>
          <a:noFill/>
        </p:spPr>
        <p:txBody>
          <a:bodyPr wrap="square">
            <a:spAutoFit/>
          </a:bodyPr>
          <a:lstStyle/>
          <a:p>
            <a:endParaRPr lang="en-IN" dirty="0"/>
          </a:p>
        </p:txBody>
      </p:sp>
    </p:spTree>
    <p:extLst>
      <p:ext uri="{BB962C8B-B14F-4D97-AF65-F5344CB8AC3E}">
        <p14:creationId xmlns:p14="http://schemas.microsoft.com/office/powerpoint/2010/main" val="28603042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278695-FF49-6E87-454C-8F306AFC58FF}"/>
              </a:ext>
            </a:extLst>
          </p:cNvPr>
          <p:cNvSpPr>
            <a:spLocks noGrp="1"/>
          </p:cNvSpPr>
          <p:nvPr>
            <p:ph type="title"/>
          </p:nvPr>
        </p:nvSpPr>
        <p:spPr>
          <a:xfrm>
            <a:off x="1219200" y="609600"/>
            <a:ext cx="12115800" cy="553998"/>
          </a:xfrm>
        </p:spPr>
        <p:txBody>
          <a:bodyPr/>
          <a:lstStyle/>
          <a:p>
            <a:pPr algn="ctr"/>
            <a:r>
              <a:rPr lang="en-US" sz="3600" dirty="0"/>
              <a:t>DISADVANTAGES</a:t>
            </a:r>
            <a:endParaRPr lang="en-IN" sz="3600" dirty="0"/>
          </a:p>
        </p:txBody>
      </p:sp>
      <p:sp>
        <p:nvSpPr>
          <p:cNvPr id="3" name="Text Placeholder 2">
            <a:extLst>
              <a:ext uri="{FF2B5EF4-FFF2-40B4-BE49-F238E27FC236}">
                <a16:creationId xmlns:a16="http://schemas.microsoft.com/office/drawing/2014/main" id="{EB18C641-DF35-C647-5725-779802BF9704}"/>
              </a:ext>
            </a:extLst>
          </p:cNvPr>
          <p:cNvSpPr>
            <a:spLocks noGrp="1"/>
          </p:cNvSpPr>
          <p:nvPr>
            <p:ph type="body" idx="1"/>
          </p:nvPr>
        </p:nvSpPr>
        <p:spPr>
          <a:xfrm>
            <a:off x="990600" y="1600200"/>
            <a:ext cx="12801600" cy="3257623"/>
          </a:xfrm>
        </p:spPr>
        <p:txBody>
          <a:bodyPr/>
          <a:lstStyle/>
          <a:p>
            <a:pPr marL="342900" indent="-342900" algn="just">
              <a:lnSpc>
                <a:spcPct val="150000"/>
              </a:lnSpc>
              <a:buFont typeface="Wingdings" panose="05000000000000000000" pitchFamily="2" charset="2"/>
              <a:buChar char="Ø"/>
            </a:pPr>
            <a:r>
              <a:rPr lang="en-US" sz="2400" b="1" dirty="0"/>
              <a:t>Complex System Design</a:t>
            </a:r>
            <a:r>
              <a:rPr lang="en-US" sz="2400" dirty="0"/>
              <a:t> — The system uses multiple hardware components and communication protocols, requiring technical knowledge for setup and configuration. </a:t>
            </a:r>
          </a:p>
          <a:p>
            <a:pPr marL="342900" indent="-342900" algn="just">
              <a:lnSpc>
                <a:spcPct val="150000"/>
              </a:lnSpc>
              <a:buFont typeface="Wingdings" panose="05000000000000000000" pitchFamily="2" charset="2"/>
              <a:buChar char="Ø"/>
            </a:pPr>
            <a:r>
              <a:rPr lang="en-US" sz="2400" b="1" dirty="0"/>
              <a:t>Component Maintenance</a:t>
            </a:r>
            <a:r>
              <a:rPr lang="en-US" sz="2400" dirty="0"/>
              <a:t> — Outdoor exposure to dust, heat, and moisture can affect motors, sensors, and electronics, requiring regular servicing. </a:t>
            </a:r>
          </a:p>
          <a:p>
            <a:pPr marL="342900" indent="-342900" algn="just">
              <a:lnSpc>
                <a:spcPct val="150000"/>
              </a:lnSpc>
              <a:buFont typeface="Wingdings" panose="05000000000000000000" pitchFamily="2" charset="2"/>
              <a:buChar char="Ø"/>
            </a:pPr>
            <a:r>
              <a:rPr lang="en-US" sz="2400" b="1" dirty="0"/>
              <a:t>Power Consumption</a:t>
            </a:r>
            <a:r>
              <a:rPr lang="en-US" sz="2400" dirty="0"/>
              <a:t> — ESP32 units, motors, sensors, </a:t>
            </a:r>
            <a:r>
              <a:rPr lang="en-US" sz="2400" dirty="0" err="1"/>
              <a:t>WiFi</a:t>
            </a:r>
            <a:r>
              <a:rPr lang="en-US" sz="2400" dirty="0"/>
              <a:t> communication, and the backend system consume additional power during operation. </a:t>
            </a:r>
          </a:p>
        </p:txBody>
      </p:sp>
      <p:sp>
        <p:nvSpPr>
          <p:cNvPr id="5" name="TextBox 4">
            <a:extLst>
              <a:ext uri="{FF2B5EF4-FFF2-40B4-BE49-F238E27FC236}">
                <a16:creationId xmlns:a16="http://schemas.microsoft.com/office/drawing/2014/main" id="{8AB9C417-9793-4D8B-71FA-9EB6AF301438}"/>
              </a:ext>
            </a:extLst>
          </p:cNvPr>
          <p:cNvSpPr txBox="1"/>
          <p:nvPr/>
        </p:nvSpPr>
        <p:spPr>
          <a:xfrm>
            <a:off x="3657600" y="3930134"/>
            <a:ext cx="7315200" cy="369332"/>
          </a:xfrm>
          <a:prstGeom prst="rect">
            <a:avLst/>
          </a:prstGeom>
          <a:noFill/>
        </p:spPr>
        <p:txBody>
          <a:bodyPr wrap="square">
            <a:spAutoFit/>
          </a:bodyPr>
          <a:lstStyle/>
          <a:p>
            <a:endParaRPr lang="en-IN" dirty="0"/>
          </a:p>
        </p:txBody>
      </p:sp>
      <p:sp>
        <p:nvSpPr>
          <p:cNvPr id="7" name="TextBox 6">
            <a:extLst>
              <a:ext uri="{FF2B5EF4-FFF2-40B4-BE49-F238E27FC236}">
                <a16:creationId xmlns:a16="http://schemas.microsoft.com/office/drawing/2014/main" id="{244B4960-211D-1027-72B2-EBD63671D9B9}"/>
              </a:ext>
            </a:extLst>
          </p:cNvPr>
          <p:cNvSpPr txBox="1"/>
          <p:nvPr/>
        </p:nvSpPr>
        <p:spPr>
          <a:xfrm>
            <a:off x="3657600" y="3930134"/>
            <a:ext cx="7315200" cy="369332"/>
          </a:xfrm>
          <a:prstGeom prst="rect">
            <a:avLst/>
          </a:prstGeom>
          <a:noFill/>
        </p:spPr>
        <p:txBody>
          <a:bodyPr wrap="square">
            <a:spAutoFit/>
          </a:bodyPr>
          <a:lstStyle/>
          <a:p>
            <a:endParaRPr lang="en-IN" dirty="0"/>
          </a:p>
        </p:txBody>
      </p:sp>
    </p:spTree>
    <p:extLst>
      <p:ext uri="{BB962C8B-B14F-4D97-AF65-F5344CB8AC3E}">
        <p14:creationId xmlns:p14="http://schemas.microsoft.com/office/powerpoint/2010/main" val="185154852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FA08C-C836-9588-BC56-32DF1928AE39}"/>
              </a:ext>
            </a:extLst>
          </p:cNvPr>
          <p:cNvSpPr>
            <a:spLocks noGrp="1"/>
          </p:cNvSpPr>
          <p:nvPr>
            <p:ph type="title"/>
          </p:nvPr>
        </p:nvSpPr>
        <p:spPr>
          <a:xfrm>
            <a:off x="838200" y="457200"/>
            <a:ext cx="13335000" cy="553998"/>
          </a:xfrm>
        </p:spPr>
        <p:txBody>
          <a:bodyPr/>
          <a:lstStyle/>
          <a:p>
            <a:pPr algn="ctr"/>
            <a:r>
              <a:rPr lang="en-US" sz="3600" dirty="0"/>
              <a:t>APPLICATIONS</a:t>
            </a:r>
            <a:endParaRPr lang="en-IN" sz="3600" dirty="0"/>
          </a:p>
        </p:txBody>
      </p:sp>
      <p:sp>
        <p:nvSpPr>
          <p:cNvPr id="3" name="Text Placeholder 2">
            <a:extLst>
              <a:ext uri="{FF2B5EF4-FFF2-40B4-BE49-F238E27FC236}">
                <a16:creationId xmlns:a16="http://schemas.microsoft.com/office/drawing/2014/main" id="{A01110C6-DCC7-D3E5-D87F-570884BB28C3}"/>
              </a:ext>
            </a:extLst>
          </p:cNvPr>
          <p:cNvSpPr>
            <a:spLocks noGrp="1"/>
          </p:cNvSpPr>
          <p:nvPr>
            <p:ph type="body" idx="1"/>
          </p:nvPr>
        </p:nvSpPr>
        <p:spPr>
          <a:xfrm>
            <a:off x="838200" y="1295400"/>
            <a:ext cx="12877801" cy="3257623"/>
          </a:xfrm>
        </p:spPr>
        <p:txBody>
          <a:bodyPr/>
          <a:lstStyle/>
          <a:p>
            <a:pPr marL="342900" indent="-342900" algn="just">
              <a:lnSpc>
                <a:spcPct val="150000"/>
              </a:lnSpc>
              <a:buFont typeface="Wingdings" panose="05000000000000000000" pitchFamily="2" charset="2"/>
              <a:buChar char="Ø"/>
            </a:pPr>
            <a:r>
              <a:rPr lang="en-US" sz="2400" b="1" dirty="0"/>
              <a:t>Residential Rooftops</a:t>
            </a:r>
            <a:r>
              <a:rPr lang="en-US" sz="2400" dirty="0"/>
              <a:t> — Maintains home solar panels automatically without manual cleaning. </a:t>
            </a:r>
          </a:p>
          <a:p>
            <a:pPr marL="342900" indent="-342900" algn="just">
              <a:lnSpc>
                <a:spcPct val="150000"/>
              </a:lnSpc>
              <a:buFont typeface="Wingdings" panose="05000000000000000000" pitchFamily="2" charset="2"/>
              <a:buChar char="Ø"/>
            </a:pPr>
            <a:r>
              <a:rPr lang="en-US" sz="2400" b="1" dirty="0"/>
              <a:t>Industrial Facilities</a:t>
            </a:r>
            <a:r>
              <a:rPr lang="en-US" sz="2400" dirty="0"/>
              <a:t> — Supports factories and warehouses with large solar installations. </a:t>
            </a:r>
          </a:p>
          <a:p>
            <a:pPr marL="342900" indent="-342900" algn="just">
              <a:lnSpc>
                <a:spcPct val="150000"/>
              </a:lnSpc>
              <a:buFont typeface="Wingdings" panose="05000000000000000000" pitchFamily="2" charset="2"/>
              <a:buChar char="Ø"/>
            </a:pPr>
            <a:r>
              <a:rPr lang="en-US" sz="2400" b="1" dirty="0"/>
              <a:t>Solar Farms</a:t>
            </a:r>
            <a:r>
              <a:rPr lang="en-US" sz="2400" dirty="0"/>
              <a:t> — Useful for large-scale solar plants where manual cleaning is difficult.</a:t>
            </a:r>
          </a:p>
          <a:p>
            <a:pPr marL="342900" indent="-342900" algn="just">
              <a:lnSpc>
                <a:spcPct val="150000"/>
              </a:lnSpc>
              <a:buFont typeface="Wingdings" panose="05000000000000000000" pitchFamily="2" charset="2"/>
              <a:buChar char="Ø"/>
            </a:pPr>
            <a:r>
              <a:rPr lang="en-US" sz="2400" b="1" dirty="0"/>
              <a:t>Smart City Projects</a:t>
            </a:r>
            <a:r>
              <a:rPr lang="en-US" sz="2400" dirty="0"/>
              <a:t> — Enables automated and efficient energy management. </a:t>
            </a:r>
          </a:p>
          <a:p>
            <a:pPr marL="342900" indent="-342900" algn="just">
              <a:lnSpc>
                <a:spcPct val="150000"/>
              </a:lnSpc>
              <a:buFont typeface="Wingdings" panose="05000000000000000000" pitchFamily="2" charset="2"/>
              <a:buChar char="Ø"/>
            </a:pPr>
            <a:r>
              <a:rPr lang="en-US" sz="2400" b="1" dirty="0"/>
              <a:t>Educational Institutions</a:t>
            </a:r>
            <a:r>
              <a:rPr lang="en-US" sz="2400" dirty="0"/>
              <a:t> — Provides sustainable and low-maintenance solar systems for campuses. </a:t>
            </a:r>
          </a:p>
          <a:p>
            <a:pPr marL="342900" indent="-342900" algn="just">
              <a:lnSpc>
                <a:spcPct val="150000"/>
              </a:lnSpc>
              <a:buFont typeface="Wingdings" panose="05000000000000000000" pitchFamily="2" charset="2"/>
              <a:buChar char="Ø"/>
            </a:pPr>
            <a:r>
              <a:rPr lang="en-US" sz="2400" b="1" dirty="0"/>
              <a:t>Hospitals &amp; Critical Facilities</a:t>
            </a:r>
            <a:r>
              <a:rPr lang="en-US" sz="2400" dirty="0"/>
              <a:t> — Ensures reliable power generation for essential services.</a:t>
            </a:r>
          </a:p>
        </p:txBody>
      </p:sp>
      <p:pic>
        <p:nvPicPr>
          <p:cNvPr id="4" name="Picture 3" descr="A solar panel cleaning robot - The Global Energy Association">
            <a:extLst>
              <a:ext uri="{FF2B5EF4-FFF2-40B4-BE49-F238E27FC236}">
                <a16:creationId xmlns:a16="http://schemas.microsoft.com/office/drawing/2014/main" id="{517D8230-8325-5557-2570-461D4D604FEE}"/>
              </a:ext>
            </a:extLst>
          </p:cNvPr>
          <p:cNvPicPr>
            <a:picLocks noChangeAspect="1"/>
          </p:cNvPicPr>
          <p:nvPr/>
        </p:nvPicPr>
        <p:blipFill>
          <a:blip r:embed="rId2" cstate="print"/>
          <a:stretch>
            <a:fillRect/>
          </a:stretch>
        </p:blipFill>
        <p:spPr>
          <a:xfrm>
            <a:off x="838200" y="5105400"/>
            <a:ext cx="3872384" cy="2524844"/>
          </a:xfrm>
          <a:prstGeom prst="rect">
            <a:avLst/>
          </a:prstGeom>
          <a:ln w="127000" cap="sq">
            <a:solidFill>
              <a:srgbClr val="000000"/>
            </a:solidFill>
            <a:miter lim="800000"/>
          </a:ln>
          <a:effectLst>
            <a:outerShdw blurRad="57150" dist="50800" dir="2700000" algn="tl" rotWithShape="0">
              <a:srgbClr val="000000">
                <a:alpha val="40000"/>
              </a:srgbClr>
            </a:outerShdw>
          </a:effectLst>
        </p:spPr>
      </p:pic>
      <p:pic>
        <p:nvPicPr>
          <p:cNvPr id="5" name="Picture 4" descr="Solar Panel Cleaning Robots By Fabtru">
            <a:extLst>
              <a:ext uri="{FF2B5EF4-FFF2-40B4-BE49-F238E27FC236}">
                <a16:creationId xmlns:a16="http://schemas.microsoft.com/office/drawing/2014/main" id="{00C43BBA-E1B9-EE47-A62D-7D8B82C57277}"/>
              </a:ext>
            </a:extLst>
          </p:cNvPr>
          <p:cNvPicPr>
            <a:picLocks noChangeAspect="1"/>
          </p:cNvPicPr>
          <p:nvPr/>
        </p:nvPicPr>
        <p:blipFill>
          <a:blip r:embed="rId3" cstate="print"/>
          <a:stretch>
            <a:fillRect/>
          </a:stretch>
        </p:blipFill>
        <p:spPr>
          <a:xfrm>
            <a:off x="5638800" y="5105400"/>
            <a:ext cx="3653924" cy="2578535"/>
          </a:xfrm>
          <a:prstGeom prst="rect">
            <a:avLst/>
          </a:prstGeom>
          <a:ln w="127000" cap="sq">
            <a:solidFill>
              <a:srgbClr val="000000"/>
            </a:solidFill>
            <a:miter lim="800000"/>
          </a:ln>
          <a:effectLst>
            <a:outerShdw blurRad="57150" dist="50800" dir="2700000" algn="tl" rotWithShape="0">
              <a:srgbClr val="000000">
                <a:alpha val="40000"/>
              </a:srgbClr>
            </a:outerShdw>
          </a:effectLst>
        </p:spPr>
      </p:pic>
      <p:pic>
        <p:nvPicPr>
          <p:cNvPr id="17" name="Picture 16" descr="SolarCleano - Solution provider of autonomous and semi-autonomous solar  panel cleaning robots">
            <a:extLst>
              <a:ext uri="{FF2B5EF4-FFF2-40B4-BE49-F238E27FC236}">
                <a16:creationId xmlns:a16="http://schemas.microsoft.com/office/drawing/2014/main" id="{A89AA422-63CD-F696-C4CA-D5E45B0BDF1C}"/>
              </a:ext>
            </a:extLst>
          </p:cNvPr>
          <p:cNvPicPr>
            <a:picLocks noChangeAspect="1"/>
          </p:cNvPicPr>
          <p:nvPr/>
        </p:nvPicPr>
        <p:blipFill>
          <a:blip r:embed="rId4"/>
          <a:stretch>
            <a:fillRect/>
          </a:stretch>
        </p:blipFill>
        <p:spPr>
          <a:xfrm>
            <a:off x="10210800" y="5105400"/>
            <a:ext cx="3625461" cy="2578534"/>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57717509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89835" y="252666"/>
            <a:ext cx="10111740" cy="553998"/>
          </a:xfrm>
        </p:spPr>
        <p:txBody>
          <a:bodyPr/>
          <a:lstStyle/>
          <a:p>
            <a:pPr algn="ctr"/>
            <a:r>
              <a:rPr lang="en-US" sz="3600" dirty="0"/>
              <a:t>PROTOTYPE</a:t>
            </a:r>
          </a:p>
        </p:txBody>
      </p:sp>
      <p:pic>
        <p:nvPicPr>
          <p:cNvPr id="41986" name="Picture 2" descr="C:\Users\anagh\OneDrive\Desktop\self cleaning solar panel\panel.jpeg"/>
          <p:cNvPicPr>
            <a:picLocks noChangeAspect="1" noChangeArrowheads="1"/>
          </p:cNvPicPr>
          <p:nvPr/>
        </p:nvPicPr>
        <p:blipFill>
          <a:blip r:embed="rId2"/>
          <a:srcRect/>
          <a:stretch>
            <a:fillRect/>
          </a:stretch>
        </p:blipFill>
        <p:spPr bwMode="auto">
          <a:xfrm>
            <a:off x="8001000" y="2133600"/>
            <a:ext cx="5119007" cy="4648200"/>
          </a:xfrm>
          <a:prstGeom prst="rect">
            <a:avLst/>
          </a:prstGeom>
          <a:ln>
            <a:noFill/>
          </a:ln>
          <a:effectLst>
            <a:outerShdw blurRad="292100" dist="139700" dir="2700000" algn="tl" rotWithShape="0">
              <a:srgbClr val="333333">
                <a:alpha val="65000"/>
              </a:srgbClr>
            </a:outerShdw>
          </a:effectLst>
        </p:spPr>
      </p:pic>
      <p:pic>
        <p:nvPicPr>
          <p:cNvPr id="41988" name="Picture 4" descr="C:\Users\anagh\OneDrive\Desktop\self cleaning solar panel\brush.jpeg"/>
          <p:cNvPicPr>
            <a:picLocks noChangeAspect="1" noChangeArrowheads="1"/>
          </p:cNvPicPr>
          <p:nvPr/>
        </p:nvPicPr>
        <p:blipFill>
          <a:blip r:embed="rId3"/>
          <a:srcRect/>
          <a:stretch>
            <a:fillRect/>
          </a:stretch>
        </p:blipFill>
        <p:spPr bwMode="auto">
          <a:xfrm>
            <a:off x="1483180" y="2121877"/>
            <a:ext cx="5146221" cy="464820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0" y="457200"/>
            <a:ext cx="10111740" cy="607859"/>
          </a:xfrm>
        </p:spPr>
        <p:txBody>
          <a:bodyPr/>
          <a:lstStyle/>
          <a:p>
            <a:pPr algn="ctr"/>
            <a:r>
              <a:rPr lang="en-US" dirty="0"/>
              <a:t>WORKING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189276A3-B543-DADC-A21E-09DC97D9E114}"/>
              </a:ext>
            </a:extLst>
          </p:cNvPr>
          <p:cNvSpPr>
            <a:spLocks noGrp="1"/>
          </p:cNvSpPr>
          <p:nvPr>
            <p:ph type="body" idx="1"/>
          </p:nvPr>
        </p:nvSpPr>
        <p:spPr>
          <a:xfrm>
            <a:off x="662940" y="1898332"/>
            <a:ext cx="13639165" cy="330860"/>
          </a:xfrm>
        </p:spPr>
        <p:txBody>
          <a:bodyPr/>
          <a:lstStyle/>
          <a:p>
            <a:r>
              <a:rPr lang="en-US" dirty="0"/>
              <a:t> </a:t>
            </a:r>
            <a:endParaRPr lang="en-IN" dirty="0"/>
          </a:p>
        </p:txBody>
      </p:sp>
      <p:graphicFrame>
        <p:nvGraphicFramePr>
          <p:cNvPr id="4" name="Table 3">
            <a:extLst>
              <a:ext uri="{FF2B5EF4-FFF2-40B4-BE49-F238E27FC236}">
                <a16:creationId xmlns:a16="http://schemas.microsoft.com/office/drawing/2014/main" id="{FC7B56D1-29E4-A254-9D95-85CC8D5FF3D6}"/>
              </a:ext>
            </a:extLst>
          </p:cNvPr>
          <p:cNvGraphicFramePr>
            <a:graphicFrameLocks noGrp="1"/>
          </p:cNvGraphicFramePr>
          <p:nvPr>
            <p:extLst>
              <p:ext uri="{D42A27DB-BD31-4B8C-83A1-F6EECF244321}">
                <p14:modId xmlns:p14="http://schemas.microsoft.com/office/powerpoint/2010/main" val="2043855141"/>
              </p:ext>
            </p:extLst>
          </p:nvPr>
        </p:nvGraphicFramePr>
        <p:xfrm>
          <a:off x="1828800" y="1898332"/>
          <a:ext cx="11353800" cy="5148417"/>
        </p:xfrm>
        <a:graphic>
          <a:graphicData uri="http://schemas.openxmlformats.org/drawingml/2006/table">
            <a:tbl>
              <a:tblPr firstRow="1" bandRow="1">
                <a:tableStyleId>{5C22544A-7EE6-4342-B048-85BDC9FD1C3A}</a:tableStyleId>
              </a:tblPr>
              <a:tblGrid>
                <a:gridCol w="3784600">
                  <a:extLst>
                    <a:ext uri="{9D8B030D-6E8A-4147-A177-3AD203B41FA5}">
                      <a16:colId xmlns:a16="http://schemas.microsoft.com/office/drawing/2014/main" val="3807913924"/>
                    </a:ext>
                  </a:extLst>
                </a:gridCol>
                <a:gridCol w="3755033">
                  <a:extLst>
                    <a:ext uri="{9D8B030D-6E8A-4147-A177-3AD203B41FA5}">
                      <a16:colId xmlns:a16="http://schemas.microsoft.com/office/drawing/2014/main" val="3909361"/>
                    </a:ext>
                  </a:extLst>
                </a:gridCol>
                <a:gridCol w="3814167">
                  <a:extLst>
                    <a:ext uri="{9D8B030D-6E8A-4147-A177-3AD203B41FA5}">
                      <a16:colId xmlns:a16="http://schemas.microsoft.com/office/drawing/2014/main" val="3326902701"/>
                    </a:ext>
                  </a:extLst>
                </a:gridCol>
              </a:tblGrid>
              <a:tr h="763351">
                <a:tc rowSpan="2">
                  <a:txBody>
                    <a:bodyPr/>
                    <a:lstStyle/>
                    <a:p>
                      <a:pPr algn="ctr"/>
                      <a:endParaRPr lang="en-US" sz="2400" b="1" dirty="0">
                        <a:latin typeface="Times New Roman" pitchFamily="18" charset="0"/>
                        <a:cs typeface="Times New Roman" pitchFamily="18" charset="0"/>
                      </a:endParaRPr>
                    </a:p>
                    <a:p>
                      <a:pPr algn="ctr"/>
                      <a:endParaRPr lang="en-US" sz="2400" b="1" dirty="0">
                        <a:latin typeface="Times New Roman" pitchFamily="18" charset="0"/>
                        <a:cs typeface="Times New Roman" pitchFamily="18" charset="0"/>
                      </a:endParaRPr>
                    </a:p>
                    <a:p>
                      <a:pPr algn="ctr"/>
                      <a:r>
                        <a:rPr lang="en-US" sz="2400" b="1" dirty="0">
                          <a:latin typeface="Times New Roman" pitchFamily="18" charset="0"/>
                          <a:cs typeface="Times New Roman" pitchFamily="18" charset="0"/>
                        </a:rPr>
                        <a:t>No of cleaning Action </a:t>
                      </a:r>
                      <a:endParaRPr lang="en-IN" sz="2400" b="1" dirty="0">
                        <a:latin typeface="Times New Roman" pitchFamily="18" charset="0"/>
                        <a:cs typeface="Times New Roman" pitchFamily="18" charset="0"/>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tcPr>
                </a:tc>
                <a:tc gridSpan="2">
                  <a:txBody>
                    <a:bodyPr/>
                    <a:lstStyle/>
                    <a:p>
                      <a:pPr algn="ctr"/>
                      <a:r>
                        <a:rPr lang="en-US" sz="2400" b="1" dirty="0">
                          <a:latin typeface="Times New Roman" pitchFamily="18" charset="0"/>
                          <a:cs typeface="Times New Roman" pitchFamily="18" charset="0"/>
                        </a:rPr>
                        <a:t>Voltage</a:t>
                      </a:r>
                    </a:p>
                    <a:p>
                      <a:pPr algn="ctr"/>
                      <a:r>
                        <a:rPr lang="en-US" sz="2400" b="1" dirty="0">
                          <a:latin typeface="Times New Roman" pitchFamily="18" charset="0"/>
                          <a:cs typeface="Times New Roman" pitchFamily="18" charset="0"/>
                        </a:rPr>
                        <a:t>In V</a:t>
                      </a:r>
                      <a:endParaRPr lang="en-IN" sz="2400" b="1" dirty="0">
                        <a:latin typeface="Times New Roman" pitchFamily="18" charset="0"/>
                        <a:cs typeface="Times New Roman" pitchFamily="18" charset="0"/>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tx2">
                        <a:lumMod val="60000"/>
                        <a:lumOff val="40000"/>
                      </a:schemeClr>
                    </a:solidFill>
                  </a:tcPr>
                </a:tc>
                <a:tc hMerge="1">
                  <a:txBody>
                    <a:bodyPr/>
                    <a:lstStyle/>
                    <a:p>
                      <a:endParaRPr dirty="0"/>
                    </a:p>
                  </a:txBody>
                  <a:tcPr/>
                </a:tc>
                <a:extLst>
                  <a:ext uri="{0D108BD9-81ED-4DB2-BD59-A6C34878D82A}">
                    <a16:rowId xmlns:a16="http://schemas.microsoft.com/office/drawing/2014/main" val="2108889235"/>
                  </a:ext>
                </a:extLst>
              </a:tr>
              <a:tr h="763351">
                <a:tc vMerge="1">
                  <a:txBody>
                    <a:bodyPr/>
                    <a:lstStyle/>
                    <a:p>
                      <a:pPr algn="ctr"/>
                      <a:endParaRPr lang="en-IN" dirty="0"/>
                    </a:p>
                  </a:txBody>
                  <a:tcPr/>
                </a:tc>
                <a:tc>
                  <a:txBody>
                    <a:bodyPr/>
                    <a:lstStyle/>
                    <a:p>
                      <a:pPr algn="ctr"/>
                      <a:r>
                        <a:rPr lang="en-US" sz="2400" b="1" dirty="0">
                          <a:solidFill>
                            <a:schemeClr val="bg1"/>
                          </a:solidFill>
                          <a:latin typeface="Times New Roman" pitchFamily="18" charset="0"/>
                          <a:cs typeface="Times New Roman" pitchFamily="18" charset="0"/>
                        </a:rPr>
                        <a:t>Before cleaning </a:t>
                      </a:r>
                    </a:p>
                    <a:p>
                      <a:pPr algn="ctr"/>
                      <a:endParaRPr lang="en-IN" sz="2400" b="1" dirty="0">
                        <a:latin typeface="Times New Roman" pitchFamily="18" charset="0"/>
                        <a:cs typeface="Times New Roman" pitchFamily="18" charset="0"/>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tx2">
                        <a:lumMod val="60000"/>
                        <a:lumOff val="40000"/>
                      </a:schemeClr>
                    </a:solidFill>
                  </a:tcPr>
                </a:tc>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2400" b="1" dirty="0">
                          <a:solidFill>
                            <a:schemeClr val="bg1"/>
                          </a:solidFill>
                          <a:latin typeface="Times New Roman" pitchFamily="18" charset="0"/>
                          <a:cs typeface="Times New Roman" pitchFamily="18" charset="0"/>
                        </a:rPr>
                        <a:t>After cleaning </a:t>
                      </a:r>
                      <a:endParaRPr lang="en-IN" sz="2400" b="1" dirty="0">
                        <a:solidFill>
                          <a:schemeClr val="bg1"/>
                        </a:solidFill>
                        <a:latin typeface="Times New Roman" pitchFamily="18" charset="0"/>
                        <a:cs typeface="Times New Roman" pitchFamily="18" charset="0"/>
                      </a:endParaRPr>
                    </a:p>
                    <a:p>
                      <a:pPr algn="ctr"/>
                      <a:endParaRPr lang="en-IN" sz="2400" b="1" dirty="0">
                        <a:latin typeface="Times New Roman" pitchFamily="18" charset="0"/>
                        <a:cs typeface="Times New Roman" pitchFamily="18" charset="0"/>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solidFill>
                      <a:schemeClr val="tx2">
                        <a:lumMod val="60000"/>
                        <a:lumOff val="40000"/>
                      </a:schemeClr>
                    </a:solidFill>
                  </a:tcPr>
                </a:tc>
                <a:extLst>
                  <a:ext uri="{0D108BD9-81ED-4DB2-BD59-A6C34878D82A}">
                    <a16:rowId xmlns:a16="http://schemas.microsoft.com/office/drawing/2014/main" val="4196320304"/>
                  </a:ext>
                </a:extLst>
              </a:tr>
              <a:tr h="852339">
                <a:tc>
                  <a:txBody>
                    <a:bodyPr/>
                    <a:lstStyle/>
                    <a:p>
                      <a:pPr algn="ctr"/>
                      <a:r>
                        <a:rPr lang="en-US" sz="2400" b="1" dirty="0"/>
                        <a:t>1</a:t>
                      </a:r>
                      <a:endParaRPr lang="en-IN" sz="2400" b="1" dirty="0"/>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tcPr>
                </a:tc>
                <a:tc>
                  <a:txBody>
                    <a:bodyPr/>
                    <a:lstStyle/>
                    <a:p>
                      <a:pPr algn="ctr"/>
                      <a:r>
                        <a:rPr lang="en-US" sz="2400" b="1" dirty="0"/>
                        <a:t>13</a:t>
                      </a:r>
                      <a:endParaRPr lang="en-IN" sz="2400" b="1" dirty="0"/>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tcPr>
                </a:tc>
                <a:tc>
                  <a:txBody>
                    <a:bodyPr/>
                    <a:lstStyle/>
                    <a:p>
                      <a:pPr algn="ctr"/>
                      <a:r>
                        <a:rPr lang="en-US" sz="2400" b="1" dirty="0"/>
                        <a:t>15</a:t>
                      </a:r>
                      <a:endParaRPr lang="en-IN" sz="2400" b="1" dirty="0"/>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2911221337"/>
                  </a:ext>
                </a:extLst>
              </a:tr>
              <a:tr h="883386">
                <a:tc>
                  <a:txBody>
                    <a:bodyPr/>
                    <a:lstStyle/>
                    <a:p>
                      <a:pPr algn="ctr"/>
                      <a:r>
                        <a:rPr lang="en-US" sz="2400" b="1" dirty="0"/>
                        <a:t>2</a:t>
                      </a:r>
                      <a:endParaRPr lang="en-IN" sz="2400" b="1" dirty="0"/>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tcPr>
                </a:tc>
                <a:tc>
                  <a:txBody>
                    <a:bodyPr/>
                    <a:lstStyle/>
                    <a:p>
                      <a:pPr algn="ctr"/>
                      <a:r>
                        <a:rPr lang="en-US" sz="2400" b="1" dirty="0"/>
                        <a:t>17</a:t>
                      </a:r>
                      <a:endParaRPr lang="en-IN" sz="2400" b="1" dirty="0"/>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tcPr>
                </a:tc>
                <a:tc>
                  <a:txBody>
                    <a:bodyPr/>
                    <a:lstStyle/>
                    <a:p>
                      <a:pPr algn="ctr"/>
                      <a:r>
                        <a:rPr lang="en-US" sz="2400" b="1" dirty="0"/>
                        <a:t>20</a:t>
                      </a:r>
                      <a:endParaRPr lang="en-IN" sz="2400" b="1" dirty="0"/>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3196425035"/>
                  </a:ext>
                </a:extLst>
              </a:tr>
              <a:tr h="883386">
                <a:tc>
                  <a:txBody>
                    <a:bodyPr/>
                    <a:lstStyle/>
                    <a:p>
                      <a:pPr algn="ctr"/>
                      <a:r>
                        <a:rPr lang="en-IN" sz="2400" b="1" dirty="0"/>
                        <a:t>3</a:t>
                      </a: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tcPr>
                </a:tc>
                <a:tc>
                  <a:txBody>
                    <a:bodyPr/>
                    <a:lstStyle/>
                    <a:p>
                      <a:pPr algn="ctr"/>
                      <a:r>
                        <a:rPr lang="en-IN" sz="2400" b="1" dirty="0"/>
                        <a:t>17</a:t>
                      </a: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tcPr>
                </a:tc>
                <a:tc>
                  <a:txBody>
                    <a:bodyPr/>
                    <a:lstStyle/>
                    <a:p>
                      <a:pPr algn="ctr"/>
                      <a:r>
                        <a:rPr lang="en-IN" sz="2400" b="1" dirty="0"/>
                        <a:t>17</a:t>
                      </a: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4"/>
                  </a:ext>
                </a:extLst>
              </a:tr>
              <a:tr h="883386">
                <a:tc>
                  <a:txBody>
                    <a:bodyPr/>
                    <a:lstStyle/>
                    <a:p>
                      <a:pPr algn="ctr"/>
                      <a:r>
                        <a:rPr lang="en-IN" sz="2400" b="1" dirty="0"/>
                        <a:t>4</a:t>
                      </a: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tcPr>
                </a:tc>
                <a:tc>
                  <a:txBody>
                    <a:bodyPr/>
                    <a:lstStyle/>
                    <a:p>
                      <a:pPr algn="ctr"/>
                      <a:r>
                        <a:rPr lang="en-IN" sz="2400" b="1" dirty="0"/>
                        <a:t>16</a:t>
                      </a: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tcPr>
                </a:tc>
                <a:tc>
                  <a:txBody>
                    <a:bodyPr/>
                    <a:lstStyle/>
                    <a:p>
                      <a:pPr algn="ctr"/>
                      <a:r>
                        <a:rPr lang="en-IN" sz="2400" b="1" dirty="0"/>
                        <a:t>18</a:t>
                      </a: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ysDot"/>
                      <a:round/>
                      <a:headEnd type="none" w="med" len="med"/>
                      <a:tailEnd type="none" w="med" len="med"/>
                    </a:lnT>
                    <a:lnB w="12700" cap="flat" cmpd="sng" algn="ctr">
                      <a:solidFill>
                        <a:schemeClr val="tx1"/>
                      </a:solidFill>
                      <a:prstDash val="sysDot"/>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Box 4"/>
          <p:cNvSpPr txBox="1"/>
          <p:nvPr/>
        </p:nvSpPr>
        <p:spPr>
          <a:xfrm>
            <a:off x="1371600" y="228600"/>
            <a:ext cx="12268200" cy="646331"/>
          </a:xfrm>
          <a:prstGeom prst="rect">
            <a:avLst/>
          </a:prstGeom>
          <a:noFill/>
        </p:spPr>
        <p:txBody>
          <a:bodyPr wrap="square" rtlCol="0">
            <a:spAutoFit/>
          </a:bodyPr>
          <a:lstStyle/>
          <a:p>
            <a:pPr algn="ctr"/>
            <a:r>
              <a:rPr lang="en-US" sz="3600" b="1" u="sng" dirty="0">
                <a:latin typeface="Times New Roman" pitchFamily="18" charset="0"/>
                <a:cs typeface="Times New Roman" pitchFamily="18" charset="0"/>
              </a:rPr>
              <a:t>RESULT</a:t>
            </a:r>
          </a:p>
        </p:txBody>
      </p:sp>
    </p:spTree>
    <p:extLst>
      <p:ext uri="{BB962C8B-B14F-4D97-AF65-F5344CB8AC3E}">
        <p14:creationId xmlns:p14="http://schemas.microsoft.com/office/powerpoint/2010/main" val="29069283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457200"/>
            <a:ext cx="13182600" cy="492443"/>
          </a:xfrm>
        </p:spPr>
        <p:txBody>
          <a:bodyPr/>
          <a:lstStyle/>
          <a:p>
            <a:pPr algn="ctr"/>
            <a:r>
              <a:rPr lang="en-US" sz="3200" dirty="0"/>
              <a:t>CONCLUSION</a:t>
            </a:r>
            <a:endParaRPr lang="en-IN" sz="3200" dirty="0"/>
          </a:p>
        </p:txBody>
      </p:sp>
      <p:sp>
        <p:nvSpPr>
          <p:cNvPr id="3" name="Text Placeholder 2"/>
          <p:cNvSpPr>
            <a:spLocks noGrp="1"/>
          </p:cNvSpPr>
          <p:nvPr>
            <p:ph type="body" idx="1"/>
          </p:nvPr>
        </p:nvSpPr>
        <p:spPr>
          <a:xfrm>
            <a:off x="762000" y="1100994"/>
            <a:ext cx="13182600" cy="6647974"/>
          </a:xfrm>
        </p:spPr>
        <p:txBody>
          <a:bodyPr/>
          <a:lstStyle/>
          <a:p>
            <a:pPr algn="just">
              <a:lnSpc>
                <a:spcPct val="150000"/>
              </a:lnSpc>
            </a:pPr>
            <a:r>
              <a:rPr lang="en-US" sz="2400" dirty="0"/>
              <a:t>	This project demonstrates an AI-based autonomous solar panel cleaning system designed to reduce efficiency loss caused by dust accumulation. The system integrates two ESP32 microcontrollers, real-time AQI monitoring using the Open </a:t>
            </a:r>
            <a:r>
              <a:rPr lang="en-US" sz="2400" dirty="0" err="1"/>
              <a:t>WeatherMap</a:t>
            </a:r>
            <a:r>
              <a:rPr lang="en-US" sz="2400" dirty="0"/>
              <a:t> API, MQTT-based robot control, machine learning prediction models, and a React Native mobile application into a complete IoT solution.</a:t>
            </a:r>
          </a:p>
          <a:p>
            <a:pPr algn="just">
              <a:lnSpc>
                <a:spcPct val="150000"/>
              </a:lnSpc>
            </a:pPr>
            <a:r>
              <a:rPr lang="en-US" sz="2400" dirty="0"/>
              <a:t>	The AI engine monitors AQI data continuously and starts cleaning only when dust levels exceed the set threshold, reducing unnecessary cleaning and saving water. Machine learning models are used for solar power forecasting and predicting future cleaning requirements, helping maintain maximum panel efficiency.</a:t>
            </a:r>
          </a:p>
          <a:p>
            <a:pPr algn="just">
              <a:lnSpc>
                <a:spcPct val="150000"/>
              </a:lnSpc>
            </a:pPr>
            <a:r>
              <a:rPr lang="en-US" sz="2400" dirty="0"/>
              <a:t>	The system improves solar energy generation by keeping panels clean through automatic and timely cleaning cycles. It also provides real-time monitoring, manual control through the mobile app, and database logging for all sensor data and cleaning events. The solution can be applied to residential, industrial, and large-scale solar installations for efficient and sustainable solar energy management.</a:t>
            </a:r>
          </a:p>
          <a:p>
            <a:pPr algn="just">
              <a:lnSpc>
                <a:spcPct val="150000"/>
              </a:lnSpc>
            </a:pPr>
            <a:endParaRPr lang="en-US" sz="2400" dirty="0"/>
          </a:p>
        </p:txBody>
      </p:sp>
    </p:spTree>
    <p:extLst>
      <p:ext uri="{BB962C8B-B14F-4D97-AF65-F5344CB8AC3E}">
        <p14:creationId xmlns:p14="http://schemas.microsoft.com/office/powerpoint/2010/main" val="11595675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DF6AE-FEB6-788C-13B0-16624F0CAB10}"/>
              </a:ext>
            </a:extLst>
          </p:cNvPr>
          <p:cNvSpPr>
            <a:spLocks noGrp="1"/>
          </p:cNvSpPr>
          <p:nvPr>
            <p:ph type="title"/>
          </p:nvPr>
        </p:nvSpPr>
        <p:spPr>
          <a:xfrm>
            <a:off x="1828800" y="457200"/>
            <a:ext cx="10772774" cy="553998"/>
          </a:xfrm>
        </p:spPr>
        <p:txBody>
          <a:bodyPr/>
          <a:lstStyle/>
          <a:p>
            <a:pPr algn="ctr"/>
            <a:r>
              <a:rPr lang="en-IN" sz="3600" dirty="0"/>
              <a:t>FUTURE SCOPE</a:t>
            </a:r>
          </a:p>
        </p:txBody>
      </p:sp>
      <p:sp>
        <p:nvSpPr>
          <p:cNvPr id="3" name="Text Placeholder 2">
            <a:extLst>
              <a:ext uri="{FF2B5EF4-FFF2-40B4-BE49-F238E27FC236}">
                <a16:creationId xmlns:a16="http://schemas.microsoft.com/office/drawing/2014/main" id="{419954C8-9F61-A612-B358-760074A5439C}"/>
              </a:ext>
            </a:extLst>
          </p:cNvPr>
          <p:cNvSpPr>
            <a:spLocks noGrp="1"/>
          </p:cNvSpPr>
          <p:nvPr>
            <p:ph type="body" idx="1"/>
          </p:nvPr>
        </p:nvSpPr>
        <p:spPr>
          <a:xfrm>
            <a:off x="914400" y="1524000"/>
            <a:ext cx="12801600" cy="6032421"/>
          </a:xfrm>
        </p:spPr>
        <p:txBody>
          <a:bodyPr/>
          <a:lstStyle/>
          <a:p>
            <a:pPr algn="just">
              <a:buFont typeface="Wingdings" pitchFamily="2" charset="2"/>
              <a:buChar char="Ø"/>
            </a:pPr>
            <a:r>
              <a:rPr lang="en-US" sz="2600" b="1" dirty="0"/>
              <a:t>Portable </a:t>
            </a:r>
            <a:r>
              <a:rPr lang="en-US" sz="2600" b="1" dirty="0" err="1"/>
              <a:t>Bot</a:t>
            </a:r>
            <a:endParaRPr lang="en-US" sz="2400" b="1" dirty="0"/>
          </a:p>
          <a:p>
            <a:pPr algn="just"/>
            <a:r>
              <a:rPr lang="en-US" sz="2400" dirty="0"/>
              <a:t>The existing </a:t>
            </a:r>
            <a:r>
              <a:rPr lang="en-US" sz="2400" dirty="0" err="1"/>
              <a:t>Bot</a:t>
            </a:r>
            <a:r>
              <a:rPr lang="en-US" sz="2400" dirty="0"/>
              <a:t>, dust can be detected only in the particular IP address provided. In the future the </a:t>
            </a:r>
            <a:r>
              <a:rPr lang="en-US" sz="2400" dirty="0" err="1"/>
              <a:t>Bot</a:t>
            </a:r>
            <a:r>
              <a:rPr lang="en-US" sz="2400" dirty="0"/>
              <a:t> can be developed such that the </a:t>
            </a:r>
            <a:r>
              <a:rPr lang="en-US" sz="2400" dirty="0" err="1"/>
              <a:t>bot</a:t>
            </a:r>
            <a:r>
              <a:rPr lang="en-US" sz="2400" dirty="0"/>
              <a:t> runs in any location.</a:t>
            </a:r>
          </a:p>
          <a:p>
            <a:pPr algn="just"/>
            <a:endParaRPr lang="en-US" sz="2400" dirty="0"/>
          </a:p>
          <a:p>
            <a:pPr algn="just">
              <a:buFont typeface="Wingdings" pitchFamily="2" charset="2"/>
              <a:buChar char="Ø"/>
            </a:pPr>
            <a:r>
              <a:rPr lang="en-US" sz="2600" b="1" dirty="0"/>
              <a:t>Self-Navigation &amp; Autonomous Movement</a:t>
            </a:r>
          </a:p>
          <a:p>
            <a:pPr algn="just"/>
            <a:r>
              <a:rPr lang="en-US" sz="2400" dirty="0"/>
              <a:t>Future bots can use computer vision and obstacle detection to move across large solar farms without human control.</a:t>
            </a:r>
          </a:p>
          <a:p>
            <a:pPr algn="just"/>
            <a:endParaRPr lang="en-US" sz="2600" b="1" dirty="0"/>
          </a:p>
          <a:p>
            <a:pPr algn="just">
              <a:buFont typeface="Wingdings" pitchFamily="2" charset="2"/>
              <a:buChar char="Ø"/>
            </a:pPr>
            <a:r>
              <a:rPr lang="en-US" sz="2600" b="1" dirty="0"/>
              <a:t>Water Optimization Techniques</a:t>
            </a:r>
          </a:p>
          <a:p>
            <a:pPr algn="just"/>
            <a:r>
              <a:rPr lang="en-US" sz="2400" dirty="0"/>
              <a:t>AI can optimize water usage by selecting dry cleaning or minimum-water cleaning methods based on dirt conditions.</a:t>
            </a:r>
          </a:p>
          <a:p>
            <a:pPr algn="just"/>
            <a:endParaRPr lang="en-US" sz="2400" dirty="0"/>
          </a:p>
          <a:p>
            <a:pPr algn="just">
              <a:buFont typeface="Wingdings" pitchFamily="2" charset="2"/>
              <a:buChar char="Ø"/>
            </a:pPr>
            <a:r>
              <a:rPr lang="en-US" sz="2600" b="1" dirty="0"/>
              <a:t>Weather-Adaptive Cleaning</a:t>
            </a:r>
          </a:p>
          <a:p>
            <a:pPr algn="just"/>
            <a:r>
              <a:rPr lang="en-US" sz="2400" dirty="0"/>
              <a:t>System can avoid cleaning during rain, high winds, or extreme temperatures using weather prediction models.</a:t>
            </a:r>
          </a:p>
          <a:p>
            <a:pPr algn="just"/>
            <a:endParaRPr lang="en-US" sz="2400" dirty="0"/>
          </a:p>
        </p:txBody>
      </p:sp>
    </p:spTree>
    <p:extLst>
      <p:ext uri="{BB962C8B-B14F-4D97-AF65-F5344CB8AC3E}">
        <p14:creationId xmlns:p14="http://schemas.microsoft.com/office/powerpoint/2010/main" val="14977257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10682" y="228600"/>
            <a:ext cx="10111740" cy="553998"/>
          </a:xfrm>
        </p:spPr>
        <p:txBody>
          <a:bodyPr/>
          <a:lstStyle/>
          <a:p>
            <a:pPr algn="ctr"/>
            <a:r>
              <a:rPr lang="en-US" sz="3600" dirty="0"/>
              <a:t>REFERENCES</a:t>
            </a:r>
            <a:endParaRPr lang="en-IN" sz="3600" dirty="0"/>
          </a:p>
        </p:txBody>
      </p:sp>
      <p:sp>
        <p:nvSpPr>
          <p:cNvPr id="3" name="Text Placeholder 2"/>
          <p:cNvSpPr>
            <a:spLocks noGrp="1"/>
          </p:cNvSpPr>
          <p:nvPr>
            <p:ph type="body" idx="1"/>
          </p:nvPr>
        </p:nvSpPr>
        <p:spPr>
          <a:xfrm>
            <a:off x="685800" y="990601"/>
            <a:ext cx="13487400" cy="6781799"/>
          </a:xfrm>
        </p:spPr>
        <p:txBody>
          <a:bodyPr/>
          <a:lstStyle/>
          <a:p>
            <a:r>
              <a:rPr lang="en-US" sz="2400" dirty="0"/>
              <a:t>[1] </a:t>
            </a:r>
            <a:r>
              <a:rPr lang="en-IN" sz="2400" dirty="0"/>
              <a:t>M. R. Habib et al., "Automatic Solar Panel Cleaning System Based on Arduino for Dust Removal," 2021 International Conference on Artificial Intelligence and Smart Systems (ICAIS), Coimbatore, India, 2021, pp. 1555-1558, </a:t>
            </a:r>
            <a:r>
              <a:rPr lang="en-IN" sz="2400" dirty="0" err="1"/>
              <a:t>doi</a:t>
            </a:r>
            <a:r>
              <a:rPr lang="en-IN" sz="2400" dirty="0"/>
              <a:t>: 10.1109/ICAIS50930.2021.9395937. </a:t>
            </a:r>
          </a:p>
          <a:p>
            <a:r>
              <a:rPr lang="en-IN" sz="2400" dirty="0">
                <a:solidFill>
                  <a:schemeClr val="dk1"/>
                </a:solidFill>
              </a:rPr>
              <a:t>[2]S. </a:t>
            </a:r>
            <a:r>
              <a:rPr lang="en-IN" sz="2400" dirty="0" err="1">
                <a:solidFill>
                  <a:schemeClr val="dk1"/>
                </a:solidFill>
              </a:rPr>
              <a:t>Gochhait</a:t>
            </a:r>
            <a:r>
              <a:rPr lang="en-IN" sz="2400" dirty="0">
                <a:solidFill>
                  <a:schemeClr val="dk1"/>
                </a:solidFill>
              </a:rPr>
              <a:t>, R. </a:t>
            </a:r>
            <a:r>
              <a:rPr lang="en-IN" sz="2400" dirty="0" err="1">
                <a:solidFill>
                  <a:schemeClr val="dk1"/>
                </a:solidFill>
              </a:rPr>
              <a:t>Asodiya</a:t>
            </a:r>
            <a:r>
              <a:rPr lang="en-IN" sz="2400" dirty="0">
                <a:solidFill>
                  <a:schemeClr val="dk1"/>
                </a:solidFill>
              </a:rPr>
              <a:t>, T. </a:t>
            </a:r>
            <a:r>
              <a:rPr lang="en-IN" sz="2400" dirty="0" err="1">
                <a:solidFill>
                  <a:schemeClr val="dk1"/>
                </a:solidFill>
              </a:rPr>
              <a:t>Hasarmani</a:t>
            </a:r>
            <a:r>
              <a:rPr lang="en-IN" sz="2400" dirty="0">
                <a:solidFill>
                  <a:schemeClr val="dk1"/>
                </a:solidFill>
              </a:rPr>
              <a:t>, V. </a:t>
            </a:r>
            <a:r>
              <a:rPr lang="en-IN" sz="2400" dirty="0" err="1">
                <a:solidFill>
                  <a:schemeClr val="dk1"/>
                </a:solidFill>
              </a:rPr>
              <a:t>Patin</a:t>
            </a:r>
            <a:r>
              <a:rPr lang="en-IN" sz="2400" dirty="0">
                <a:solidFill>
                  <a:schemeClr val="dk1"/>
                </a:solidFill>
              </a:rPr>
              <a:t> and O. </a:t>
            </a:r>
            <a:r>
              <a:rPr lang="en-IN" sz="2400" dirty="0" err="1">
                <a:solidFill>
                  <a:schemeClr val="dk1"/>
                </a:solidFill>
              </a:rPr>
              <a:t>Maslova</a:t>
            </a:r>
            <a:r>
              <a:rPr lang="en-IN" sz="2400" dirty="0">
                <a:solidFill>
                  <a:schemeClr val="dk1"/>
                </a:solidFill>
              </a:rPr>
              <a:t>, "Application of </a:t>
            </a:r>
            <a:r>
              <a:rPr lang="en-IN" sz="2400" dirty="0" err="1">
                <a:solidFill>
                  <a:schemeClr val="dk1"/>
                </a:solidFill>
              </a:rPr>
              <a:t>IoT</a:t>
            </a:r>
            <a:r>
              <a:rPr lang="en-IN" sz="2400" dirty="0">
                <a:solidFill>
                  <a:schemeClr val="dk1"/>
                </a:solidFill>
              </a:rPr>
              <a:t>: A Study on Automated Solar Panel Cleaning System," 2022 4th International Conference on Electrical, Control and Instrumentation Engineering (ICECIE), </a:t>
            </a:r>
            <a:r>
              <a:rPr lang="en-IN" sz="2400" dirty="0" err="1">
                <a:solidFill>
                  <a:schemeClr val="dk1"/>
                </a:solidFill>
              </a:rPr>
              <a:t>KualaLumpur</a:t>
            </a:r>
            <a:r>
              <a:rPr lang="en-IN" sz="2400" dirty="0">
                <a:solidFill>
                  <a:schemeClr val="dk1"/>
                </a:solidFill>
              </a:rPr>
              <a:t>, Malaysia, 2022, pp. 1-4, </a:t>
            </a:r>
            <a:r>
              <a:rPr lang="en-IN" sz="2400" dirty="0" err="1">
                <a:solidFill>
                  <a:schemeClr val="dk1"/>
                </a:solidFill>
              </a:rPr>
              <a:t>doi</a:t>
            </a:r>
            <a:r>
              <a:rPr lang="en-IN" sz="2400" dirty="0">
                <a:solidFill>
                  <a:schemeClr val="dk1"/>
                </a:solidFill>
              </a:rPr>
              <a:t>: 10.1109/ICECIE55199.2022.10000375.</a:t>
            </a:r>
          </a:p>
          <a:p>
            <a:r>
              <a:rPr lang="en-US" sz="2400" dirty="0">
                <a:solidFill>
                  <a:schemeClr val="dk1"/>
                </a:solidFill>
              </a:rPr>
              <a:t>[3]</a:t>
            </a:r>
            <a:r>
              <a:rPr lang="en-IN" sz="2400" dirty="0">
                <a:solidFill>
                  <a:schemeClr val="dk1"/>
                </a:solidFill>
              </a:rPr>
              <a:t> M. </a:t>
            </a:r>
            <a:r>
              <a:rPr lang="en-IN" sz="2400" dirty="0" err="1">
                <a:solidFill>
                  <a:schemeClr val="dk1"/>
                </a:solidFill>
              </a:rPr>
              <a:t>Jboor</a:t>
            </a:r>
            <a:r>
              <a:rPr lang="en-IN" sz="2400" dirty="0">
                <a:solidFill>
                  <a:schemeClr val="dk1"/>
                </a:solidFill>
              </a:rPr>
              <a:t> et al., "Automated Solar Panel Cleaning System," 2023 2nd International Engineering Conference on Electrical, Energy, and Artificial Intelligence (EICEEAI), </a:t>
            </a:r>
            <a:r>
              <a:rPr lang="en-IN" sz="2400" dirty="0" err="1">
                <a:solidFill>
                  <a:schemeClr val="dk1"/>
                </a:solidFill>
              </a:rPr>
              <a:t>Zarqa</a:t>
            </a:r>
            <a:r>
              <a:rPr lang="en-IN" sz="2400" dirty="0">
                <a:solidFill>
                  <a:schemeClr val="dk1"/>
                </a:solidFill>
              </a:rPr>
              <a:t>, Jordan, 2023, pp. 1-5, </a:t>
            </a:r>
            <a:r>
              <a:rPr lang="en-IN" sz="2400" dirty="0" err="1">
                <a:solidFill>
                  <a:schemeClr val="dk1"/>
                </a:solidFill>
              </a:rPr>
              <a:t>doi</a:t>
            </a:r>
            <a:r>
              <a:rPr lang="en-IN" sz="2400" dirty="0">
                <a:solidFill>
                  <a:schemeClr val="dk1"/>
                </a:solidFill>
              </a:rPr>
              <a:t>: 10.1109/EICEEAI60672.2023.10590137.</a:t>
            </a:r>
          </a:p>
          <a:p>
            <a:r>
              <a:rPr lang="en-US" sz="2400" dirty="0">
                <a:solidFill>
                  <a:schemeClr val="dk1"/>
                </a:solidFill>
              </a:rPr>
              <a:t>[4]</a:t>
            </a:r>
            <a:r>
              <a:rPr lang="en-IN" sz="2400" dirty="0">
                <a:solidFill>
                  <a:schemeClr val="dk1"/>
                </a:solidFill>
              </a:rPr>
              <a:t> N. </a:t>
            </a:r>
            <a:r>
              <a:rPr lang="en-IN" sz="2400" dirty="0" err="1">
                <a:solidFill>
                  <a:schemeClr val="dk1"/>
                </a:solidFill>
              </a:rPr>
              <a:t>Prastomo</a:t>
            </a:r>
            <a:r>
              <a:rPr lang="en-IN" sz="2400" dirty="0">
                <a:solidFill>
                  <a:schemeClr val="dk1"/>
                </a:solidFill>
              </a:rPr>
              <a:t>, Ryan and W. </a:t>
            </a:r>
            <a:r>
              <a:rPr lang="en-IN" sz="2400" dirty="0" err="1">
                <a:solidFill>
                  <a:schemeClr val="dk1"/>
                </a:solidFill>
              </a:rPr>
              <a:t>Budiman</a:t>
            </a:r>
            <a:r>
              <a:rPr lang="en-IN" sz="2400" dirty="0">
                <a:solidFill>
                  <a:schemeClr val="dk1"/>
                </a:solidFill>
              </a:rPr>
              <a:t>, "Automatic Dust Cleaning System with Wiper and Sprinkler for Solar Panel," 2023 3rd International Conference on Smart Cities, Automation &amp; Intelligent Computing Systems (ICON-SONICS), Bali, Indonesia, 2023, pp. 20-25, </a:t>
            </a:r>
            <a:r>
              <a:rPr lang="en-IN" sz="2400" dirty="0" err="1">
                <a:solidFill>
                  <a:schemeClr val="dk1"/>
                </a:solidFill>
              </a:rPr>
              <a:t>doi</a:t>
            </a:r>
            <a:r>
              <a:rPr lang="en-IN" sz="2400" dirty="0">
                <a:solidFill>
                  <a:schemeClr val="dk1"/>
                </a:solidFill>
              </a:rPr>
              <a:t>: 10.1109/ICON-SONICS59898.2023.10435085</a:t>
            </a:r>
          </a:p>
          <a:p>
            <a:r>
              <a:rPr lang="en-US" sz="2400" dirty="0">
                <a:solidFill>
                  <a:schemeClr val="dk1"/>
                </a:solidFill>
              </a:rPr>
              <a:t>[5] </a:t>
            </a:r>
            <a:r>
              <a:rPr lang="en-IN" sz="2400" dirty="0">
                <a:solidFill>
                  <a:schemeClr val="dk1"/>
                </a:solidFill>
              </a:rPr>
              <a:t>K. C. Mane, D. A. </a:t>
            </a:r>
            <a:r>
              <a:rPr lang="en-IN" sz="2400" dirty="0" err="1">
                <a:solidFill>
                  <a:schemeClr val="dk1"/>
                </a:solidFill>
              </a:rPr>
              <a:t>Pawar</a:t>
            </a:r>
            <a:r>
              <a:rPr lang="en-IN" sz="2400" dirty="0">
                <a:solidFill>
                  <a:schemeClr val="dk1"/>
                </a:solidFill>
              </a:rPr>
              <a:t>, S. M. </a:t>
            </a:r>
            <a:r>
              <a:rPr lang="en-IN" sz="2400" dirty="0" err="1">
                <a:solidFill>
                  <a:schemeClr val="dk1"/>
                </a:solidFill>
              </a:rPr>
              <a:t>Kalhapure</a:t>
            </a:r>
            <a:r>
              <a:rPr lang="en-IN" sz="2400" dirty="0">
                <a:solidFill>
                  <a:schemeClr val="dk1"/>
                </a:solidFill>
              </a:rPr>
              <a:t>, S. G. </a:t>
            </a:r>
            <a:r>
              <a:rPr lang="en-IN" sz="2400" dirty="0" err="1">
                <a:solidFill>
                  <a:schemeClr val="dk1"/>
                </a:solidFill>
              </a:rPr>
              <a:t>Aher</a:t>
            </a:r>
            <a:r>
              <a:rPr lang="en-IN" sz="2400" dirty="0">
                <a:solidFill>
                  <a:schemeClr val="dk1"/>
                </a:solidFill>
              </a:rPr>
              <a:t>, P. V. </a:t>
            </a:r>
            <a:r>
              <a:rPr lang="en-IN" sz="2400" dirty="0" err="1">
                <a:solidFill>
                  <a:schemeClr val="dk1"/>
                </a:solidFill>
              </a:rPr>
              <a:t>Thokal</a:t>
            </a:r>
            <a:r>
              <a:rPr lang="en-IN" sz="2400" dirty="0">
                <a:solidFill>
                  <a:schemeClr val="dk1"/>
                </a:solidFill>
              </a:rPr>
              <a:t> and D. B. </a:t>
            </a:r>
            <a:r>
              <a:rPr lang="en-IN" sz="2400" dirty="0" err="1">
                <a:solidFill>
                  <a:schemeClr val="dk1"/>
                </a:solidFill>
              </a:rPr>
              <a:t>Pardeshi</a:t>
            </a:r>
            <a:r>
              <a:rPr lang="en-IN" sz="2400" dirty="0">
                <a:solidFill>
                  <a:schemeClr val="dk1"/>
                </a:solidFill>
              </a:rPr>
              <a:t>, "Automatic Cleaning and Maintenance of Solar Panel and Efficiency Monitoring," 2023 2nd International Conference on Edge Computing and Applications (ICECAA), </a:t>
            </a:r>
            <a:r>
              <a:rPr lang="en-IN" sz="2400" dirty="0" err="1">
                <a:solidFill>
                  <a:schemeClr val="dk1"/>
                </a:solidFill>
              </a:rPr>
              <a:t>Namakkal</a:t>
            </a:r>
            <a:r>
              <a:rPr lang="en-IN" sz="2400" dirty="0">
                <a:solidFill>
                  <a:schemeClr val="dk1"/>
                </a:solidFill>
              </a:rPr>
              <a:t>, India, 2023, pp. 1582-1586, </a:t>
            </a:r>
            <a:r>
              <a:rPr lang="en-IN" sz="2400" dirty="0" err="1">
                <a:solidFill>
                  <a:schemeClr val="dk1"/>
                </a:solidFill>
              </a:rPr>
              <a:t>doi</a:t>
            </a:r>
            <a:r>
              <a:rPr lang="en-IN" sz="2400" dirty="0">
                <a:solidFill>
                  <a:schemeClr val="dk1"/>
                </a:solidFill>
              </a:rPr>
              <a:t>: 10.1109/ICECAA58104.2023.10212231.</a:t>
            </a:r>
            <a:endParaRPr lang="en-IN" sz="2400" dirty="0"/>
          </a:p>
          <a:p>
            <a:endParaRPr lang="en-IN" sz="2400" dirty="0"/>
          </a:p>
          <a:p>
            <a:endParaRPr lang="en-US" sz="2400" dirty="0"/>
          </a:p>
          <a:p>
            <a:endParaRPr lang="en-IN" sz="2400" dirty="0"/>
          </a:p>
          <a:p>
            <a:endParaRPr lang="en-IN" sz="2400" dirty="0"/>
          </a:p>
          <a:p>
            <a:endParaRPr lang="en-US" sz="2400" dirty="0"/>
          </a:p>
          <a:p>
            <a:endParaRPr lang="en-US" sz="2400" dirty="0"/>
          </a:p>
          <a:p>
            <a:endParaRPr lang="en-US" sz="2400" dirty="0"/>
          </a:p>
          <a:p>
            <a:endParaRPr lang="en-US" sz="2400" dirty="0"/>
          </a:p>
          <a:p>
            <a:endParaRPr lang="en-US" sz="2400" dirty="0"/>
          </a:p>
          <a:p>
            <a:endParaRPr lang="en-US" sz="2400" dirty="0"/>
          </a:p>
          <a:p>
            <a:endParaRPr lang="en-IN" sz="2400" dirty="0"/>
          </a:p>
        </p:txBody>
      </p:sp>
    </p:spTree>
    <p:extLst>
      <p:ext uri="{BB962C8B-B14F-4D97-AF65-F5344CB8AC3E}">
        <p14:creationId xmlns:p14="http://schemas.microsoft.com/office/powerpoint/2010/main" val="35472937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43300" y="3124200"/>
            <a:ext cx="7543800" cy="1477328"/>
          </a:xfrm>
        </p:spPr>
        <p:txBody>
          <a:bodyPr/>
          <a:lstStyle/>
          <a:p>
            <a:pPr algn="l"/>
            <a:r>
              <a:rPr lang="en-US" sz="9600" u="none" dirty="0">
                <a:latin typeface="OCR A Extended" panose="02010509020102010303" pitchFamily="50" charset="0"/>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1794</TotalTime>
  <Words>3673</Words>
  <Application>Microsoft Office PowerPoint</Application>
  <PresentationFormat>Custom</PresentationFormat>
  <Paragraphs>311</Paragraphs>
  <Slides>35</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35</vt:i4>
      </vt:variant>
    </vt:vector>
  </HeadingPairs>
  <TitlesOfParts>
    <vt:vector size="42" baseType="lpstr">
      <vt:lpstr>Algerian</vt:lpstr>
      <vt:lpstr>Arial</vt:lpstr>
      <vt:lpstr>Calibri</vt:lpstr>
      <vt:lpstr>OCR A Extended</vt:lpstr>
      <vt:lpstr>Times New Roman</vt:lpstr>
      <vt:lpstr>Wingdings</vt:lpstr>
      <vt:lpstr>Office Theme</vt:lpstr>
      <vt:lpstr>Jawaharlal Nehru New College of Engineering Shimogga, Karnataka.</vt:lpstr>
      <vt:lpstr>CONTENT</vt:lpstr>
      <vt:lpstr>INTRODUCTION</vt:lpstr>
      <vt:lpstr>Abstract</vt:lpstr>
      <vt:lpstr>LITERATURE SURVEY</vt:lpstr>
      <vt:lpstr>PowerPoint Presentation</vt:lpstr>
      <vt:lpstr>PowerPoint Presentation</vt:lpstr>
      <vt:lpstr>OBJECTIVES</vt:lpstr>
      <vt:lpstr>PROBLEM  STATEMENT</vt:lpstr>
      <vt:lpstr>BLOCK DIAGRAM</vt:lpstr>
      <vt:lpstr>CIRCUIT DIAGRAM</vt:lpstr>
      <vt:lpstr>METHODOLOGY</vt:lpstr>
      <vt:lpstr>System Architecture and Hardware Setup</vt:lpstr>
      <vt:lpstr>Real-Time Air Quality Monitoring and AI Control</vt:lpstr>
      <vt:lpstr>Air quality data</vt:lpstr>
      <vt:lpstr>Machine Learning and Manual Control</vt:lpstr>
      <vt:lpstr>HARDWARE AND SOFTWARE REQUIREMENTS </vt:lpstr>
      <vt:lpstr>2. ESP32</vt:lpstr>
      <vt:lpstr>3. Relay module</vt:lpstr>
      <vt:lpstr>PowerPoint Presentation</vt:lpstr>
      <vt:lpstr>5.ACS712 current sensor </vt:lpstr>
      <vt:lpstr>6. L298N Motor Driver</vt:lpstr>
      <vt:lpstr>7. Motor</vt:lpstr>
      <vt:lpstr>8. PCB Board</vt:lpstr>
      <vt:lpstr>SOFTWARE REQUIREMENT</vt:lpstr>
      <vt:lpstr>ADVANTAGES</vt:lpstr>
      <vt:lpstr>DISADVANTAGES</vt:lpstr>
      <vt:lpstr>APPLICATIONS</vt:lpstr>
      <vt:lpstr>PROTOTYPE</vt:lpstr>
      <vt:lpstr>WORKING </vt:lpstr>
      <vt:lpstr>PowerPoint Presentation</vt:lpstr>
      <vt:lpstr>CONCLUSION</vt:lpstr>
      <vt:lpstr>FUTURE SCOPE</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Jawaharlal Nehru New College of Engineering College in Shimoga, Karnataka</dc:title>
  <dc:creator>Admin</dc:creator>
  <cp:lastModifiedBy>animisha jamburmath</cp:lastModifiedBy>
  <cp:revision>157</cp:revision>
  <dcterms:created xsi:type="dcterms:W3CDTF">2025-03-29T06:07:35Z</dcterms:created>
  <dcterms:modified xsi:type="dcterms:W3CDTF">2026-05-10T17:57:22Z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2025-03-28T00:00:00Z</vt:filetime>
  </property>
  <property fmtid="{D5CDD505-2E9C-101B-9397-08002B2CF9AE}" pid="3" name="LastSaved">
    <vt:filetime>2025-03-29T00:00:00Z</vt:filetime>
  </property>
</Properties>
</file>